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Philippines has a broadband problem. The World Bank measures it on three axes: access, affordability, and quality. Household fixed penetration, 33 percent. Bandwidth, 11 percent of GNI per capita, the highest in ASEAN. Speeds lag every major ASEAN peer.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Small ISPs carry the expansion. Many began as cable TV operators, now running fiber. Their revenues grew 83 percent over five years. But they earn just 4 percent net margin, reinvest only 17 percent of revenue in CAPEX, and roughly a third of their revenue goes straight to wholesale bandwidth. That's why they can't build faster, cheaper, or better.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Regulatory reform is coming. In the meantime, capability is the one lever operators themselves control. Peering, routing security, and IXP participation reduce the bandwidth bill directly. That restores reinvestment capacity. And reinvestment is what moves the three World Bank indicators.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IXperience Pro is a structured cohort program for provincial Philippine engineers. Four modules: BGP, peering, routing security, and IXP operations, co-developed with APNIC Academy. Four cohorts of fifteen, sixty engineers from at least twenty ISPs. And a train-the-trainer track that certifies four to six Filipino facilitators, so delivery becomes independent of international instructors.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an experiment. With APNIC and PhNOG, we've trained 251 engineers from 155 companies, seventy-one percent provincial. Curriculum runs on APNIC Academy labs. Our 2023 ISIF grant, Project School Internet, connected over 50 schools in Cebu. And under standing MOA with FICTAP, the fiber ISP trade association, RISE serves as the community's designated capability partner.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Filipino engineers trained by Filipino engineers. Lower bandwidth costs. Restored reinvestment capacity. Measurable movement on the indicators the World Bank tracks.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47120" cy="731520"/>
          </a:xfrm>
          <a:prstGeom prst="rect">
            <a:avLst/>
          </a:prstGeom>
          <a:noFill/>
        </p:spPr>
        <p:txBody>
          <a:bodyPr wrap="square" anchor="t" lIns="0" rIns="0" tIns="0" bIns="0">
            <a:spAutoFit/>
          </a:bodyPr>
          <a:lstStyle/>
          <a:p>
            <a:pPr algn="l">
              <a:lnSpc>
                <a:spcPct val="115000"/>
              </a:lnSpc>
            </a:pPr>
            <a:r>
              <a:rPr sz="3400" b="1" i="0">
                <a:solidFill>
                  <a:srgbClr val="104B84"/>
                </a:solidFill>
                <a:latin typeface="Maison Neue Demi"/>
              </a:rPr>
              <a:t>The Philippines has a broadband problem</a:t>
            </a:r>
          </a:p>
        </p:txBody>
      </p:sp>
      <p:sp>
        <p:nvSpPr>
          <p:cNvPr id="3" name="Rectangle 2"/>
          <p:cNvSpPr/>
          <p:nvPr/>
        </p:nvSpPr>
        <p:spPr>
          <a:xfrm>
            <a:off x="457200" y="1143000"/>
            <a:ext cx="11247120" cy="19050"/>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11247120" cy="457200"/>
          </a:xfrm>
          <a:prstGeom prst="rect">
            <a:avLst/>
          </a:prstGeom>
          <a:noFill/>
        </p:spPr>
        <p:txBody>
          <a:bodyPr wrap="square" anchor="t" lIns="0" rIns="0" tIns="0" bIns="0">
            <a:spAutoFit/>
          </a:bodyPr>
          <a:lstStyle/>
          <a:p>
            <a:pPr algn="l">
              <a:lnSpc>
                <a:spcPct val="115000"/>
              </a:lnSpc>
            </a:pPr>
            <a:r>
              <a:rPr sz="1600" b="0" i="1">
                <a:solidFill>
                  <a:srgbClr val="4A5568"/>
                </a:solidFill>
                <a:latin typeface="Maison Neue Book"/>
              </a:rPr>
              <a:t>The World Bank measures it on three axes.</a:t>
            </a:r>
          </a:p>
        </p:txBody>
      </p:sp>
      <p:sp>
        <p:nvSpPr>
          <p:cNvPr id="5" name="Rectangle 4"/>
          <p:cNvSpPr/>
          <p:nvPr/>
        </p:nvSpPr>
        <p:spPr>
          <a:xfrm>
            <a:off x="457200" y="1920240"/>
            <a:ext cx="3611880" cy="338328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920240"/>
            <a:ext cx="76200" cy="3383280"/>
          </a:xfrm>
          <a:prstGeom prst="rect">
            <a:avLst/>
          </a:prstGeom>
          <a:solidFill>
            <a:srgbClr val="104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94560"/>
            <a:ext cx="3063240" cy="1463040"/>
          </a:xfrm>
          <a:prstGeom prst="rect">
            <a:avLst/>
          </a:prstGeom>
          <a:noFill/>
        </p:spPr>
        <p:txBody>
          <a:bodyPr wrap="square" anchor="t" lIns="0" rIns="0" tIns="0" bIns="0">
            <a:spAutoFit/>
          </a:bodyPr>
          <a:lstStyle/>
          <a:p>
            <a:pPr algn="l">
              <a:lnSpc>
                <a:spcPct val="100000"/>
              </a:lnSpc>
            </a:pPr>
            <a:r>
              <a:rPr sz="7200" b="1" i="0">
                <a:solidFill>
                  <a:srgbClr val="104B84"/>
                </a:solidFill>
                <a:latin typeface="Maison Neue Demi"/>
              </a:rPr>
              <a:t>33%</a:t>
            </a:r>
          </a:p>
        </p:txBody>
      </p:sp>
      <p:sp>
        <p:nvSpPr>
          <p:cNvPr id="8" name="TextBox 7"/>
          <p:cNvSpPr txBox="1"/>
          <p:nvPr/>
        </p:nvSpPr>
        <p:spPr>
          <a:xfrm>
            <a:off x="731520" y="3703320"/>
            <a:ext cx="3063240" cy="365760"/>
          </a:xfrm>
          <a:prstGeom prst="rect">
            <a:avLst/>
          </a:prstGeom>
          <a:noFill/>
        </p:spPr>
        <p:txBody>
          <a:bodyPr wrap="square" anchor="t" lIns="0" rIns="0" tIns="0" bIns="0">
            <a:spAutoFit/>
          </a:bodyPr>
          <a:lstStyle/>
          <a:p>
            <a:pPr algn="l">
              <a:lnSpc>
                <a:spcPct val="115000"/>
              </a:lnSpc>
            </a:pPr>
            <a:r>
              <a:rPr sz="1300" b="1" i="0">
                <a:solidFill>
                  <a:srgbClr val="333232"/>
                </a:solidFill>
                <a:latin typeface="Maison Neue Demi"/>
              </a:rPr>
              <a:t>ACCESS</a:t>
            </a:r>
          </a:p>
        </p:txBody>
      </p:sp>
      <p:sp>
        <p:nvSpPr>
          <p:cNvPr id="9" name="TextBox 8"/>
          <p:cNvSpPr txBox="1"/>
          <p:nvPr/>
        </p:nvSpPr>
        <p:spPr>
          <a:xfrm>
            <a:off x="731520" y="4114800"/>
            <a:ext cx="3063240" cy="1005840"/>
          </a:xfrm>
          <a:prstGeom prst="rect">
            <a:avLst/>
          </a:prstGeom>
          <a:noFill/>
        </p:spPr>
        <p:txBody>
          <a:bodyPr wrap="square" anchor="t" lIns="0" rIns="0" tIns="0" bIns="0">
            <a:spAutoFit/>
          </a:bodyPr>
          <a:lstStyle/>
          <a:p>
            <a:pPr algn="l">
              <a:lnSpc>
                <a:spcPct val="140000"/>
              </a:lnSpc>
            </a:pPr>
            <a:r>
              <a:rPr sz="1300" b="0" i="0">
                <a:solidFill>
                  <a:srgbClr val="4A5568"/>
                </a:solidFill>
                <a:latin typeface="Maison Neue Book"/>
              </a:rPr>
              <a:t>Household fixed-broadband penetration. Viet Nam 76%. Malaysia 50%.</a:t>
            </a:r>
          </a:p>
        </p:txBody>
      </p:sp>
      <p:sp>
        <p:nvSpPr>
          <p:cNvPr id="10" name="Rectangle 9"/>
          <p:cNvSpPr/>
          <p:nvPr/>
        </p:nvSpPr>
        <p:spPr>
          <a:xfrm>
            <a:off x="4229100" y="1920240"/>
            <a:ext cx="3611880" cy="338328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29100" y="1920240"/>
            <a:ext cx="76200" cy="3383280"/>
          </a:xfrm>
          <a:prstGeom prst="rect">
            <a:avLst/>
          </a:prstGeom>
          <a:solidFill>
            <a:srgbClr val="104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3420" y="2194560"/>
            <a:ext cx="3063240" cy="1463040"/>
          </a:xfrm>
          <a:prstGeom prst="rect">
            <a:avLst/>
          </a:prstGeom>
          <a:noFill/>
        </p:spPr>
        <p:txBody>
          <a:bodyPr wrap="square" anchor="t" lIns="0" rIns="0" tIns="0" bIns="0">
            <a:spAutoFit/>
          </a:bodyPr>
          <a:lstStyle/>
          <a:p>
            <a:pPr algn="l">
              <a:lnSpc>
                <a:spcPct val="100000"/>
              </a:lnSpc>
            </a:pPr>
            <a:r>
              <a:rPr sz="7200" b="1" i="0">
                <a:solidFill>
                  <a:srgbClr val="104B84"/>
                </a:solidFill>
                <a:latin typeface="Maison Neue Demi"/>
              </a:rPr>
              <a:t>11%</a:t>
            </a:r>
          </a:p>
        </p:txBody>
      </p:sp>
      <p:sp>
        <p:nvSpPr>
          <p:cNvPr id="13" name="TextBox 12"/>
          <p:cNvSpPr txBox="1"/>
          <p:nvPr/>
        </p:nvSpPr>
        <p:spPr>
          <a:xfrm>
            <a:off x="4503420" y="3703320"/>
            <a:ext cx="3063240" cy="365760"/>
          </a:xfrm>
          <a:prstGeom prst="rect">
            <a:avLst/>
          </a:prstGeom>
          <a:noFill/>
        </p:spPr>
        <p:txBody>
          <a:bodyPr wrap="square" anchor="t" lIns="0" rIns="0" tIns="0" bIns="0">
            <a:spAutoFit/>
          </a:bodyPr>
          <a:lstStyle/>
          <a:p>
            <a:pPr algn="l">
              <a:lnSpc>
                <a:spcPct val="115000"/>
              </a:lnSpc>
            </a:pPr>
            <a:r>
              <a:rPr sz="1300" b="1" i="0">
                <a:solidFill>
                  <a:srgbClr val="333232"/>
                </a:solidFill>
                <a:latin typeface="Maison Neue Demi"/>
              </a:rPr>
              <a:t>AFFORDABILITY</a:t>
            </a:r>
          </a:p>
        </p:txBody>
      </p:sp>
      <p:sp>
        <p:nvSpPr>
          <p:cNvPr id="14" name="TextBox 13"/>
          <p:cNvSpPr txBox="1"/>
          <p:nvPr/>
        </p:nvSpPr>
        <p:spPr>
          <a:xfrm>
            <a:off x="4503420" y="4114800"/>
            <a:ext cx="3063240" cy="1005840"/>
          </a:xfrm>
          <a:prstGeom prst="rect">
            <a:avLst/>
          </a:prstGeom>
          <a:noFill/>
        </p:spPr>
        <p:txBody>
          <a:bodyPr wrap="square" anchor="t" lIns="0" rIns="0" tIns="0" bIns="0">
            <a:spAutoFit/>
          </a:bodyPr>
          <a:lstStyle/>
          <a:p>
            <a:pPr algn="l">
              <a:lnSpc>
                <a:spcPct val="140000"/>
              </a:lnSpc>
            </a:pPr>
            <a:r>
              <a:rPr sz="1300" b="0" i="0">
                <a:solidFill>
                  <a:srgbClr val="4A5568"/>
                </a:solidFill>
                <a:latin typeface="Maison Neue Book"/>
              </a:rPr>
              <a:t>Fixed broadband as share of GNI per capita. Highest in ASEAN.</a:t>
            </a:r>
          </a:p>
        </p:txBody>
      </p:sp>
      <p:sp>
        <p:nvSpPr>
          <p:cNvPr id="15" name="Rectangle 14"/>
          <p:cNvSpPr/>
          <p:nvPr/>
        </p:nvSpPr>
        <p:spPr>
          <a:xfrm>
            <a:off x="8001000" y="1920240"/>
            <a:ext cx="3611880" cy="338328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01000" y="1920240"/>
            <a:ext cx="76200" cy="3383280"/>
          </a:xfrm>
          <a:prstGeom prst="rect">
            <a:avLst/>
          </a:prstGeom>
          <a:solidFill>
            <a:srgbClr val="104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2194560"/>
            <a:ext cx="3063240" cy="1463040"/>
          </a:xfrm>
          <a:prstGeom prst="rect">
            <a:avLst/>
          </a:prstGeom>
          <a:noFill/>
        </p:spPr>
        <p:txBody>
          <a:bodyPr wrap="square" anchor="t" lIns="0" rIns="0" tIns="0" bIns="0">
            <a:spAutoFit/>
          </a:bodyPr>
          <a:lstStyle/>
          <a:p>
            <a:pPr algn="l">
              <a:lnSpc>
                <a:spcPct val="100000"/>
              </a:lnSpc>
            </a:pPr>
            <a:r>
              <a:rPr sz="7200" b="1" i="0">
                <a:solidFill>
                  <a:srgbClr val="104B84"/>
                </a:solidFill>
                <a:latin typeface="Maison Neue Demi"/>
              </a:rPr>
              <a:t>Low</a:t>
            </a:r>
          </a:p>
        </p:txBody>
      </p:sp>
      <p:sp>
        <p:nvSpPr>
          <p:cNvPr id="18" name="TextBox 17"/>
          <p:cNvSpPr txBox="1"/>
          <p:nvPr/>
        </p:nvSpPr>
        <p:spPr>
          <a:xfrm>
            <a:off x="8275320" y="3703320"/>
            <a:ext cx="3063240" cy="365760"/>
          </a:xfrm>
          <a:prstGeom prst="rect">
            <a:avLst/>
          </a:prstGeom>
          <a:noFill/>
        </p:spPr>
        <p:txBody>
          <a:bodyPr wrap="square" anchor="t" lIns="0" rIns="0" tIns="0" bIns="0">
            <a:spAutoFit/>
          </a:bodyPr>
          <a:lstStyle/>
          <a:p>
            <a:pPr algn="l">
              <a:lnSpc>
                <a:spcPct val="115000"/>
              </a:lnSpc>
            </a:pPr>
            <a:r>
              <a:rPr sz="1300" b="1" i="0">
                <a:solidFill>
                  <a:srgbClr val="333232"/>
                </a:solidFill>
                <a:latin typeface="Maison Neue Demi"/>
              </a:rPr>
              <a:t>QUALITY</a:t>
            </a:r>
          </a:p>
        </p:txBody>
      </p:sp>
      <p:sp>
        <p:nvSpPr>
          <p:cNvPr id="19" name="TextBox 18"/>
          <p:cNvSpPr txBox="1"/>
          <p:nvPr/>
        </p:nvSpPr>
        <p:spPr>
          <a:xfrm>
            <a:off x="8275320" y="4114800"/>
            <a:ext cx="3063240" cy="1005840"/>
          </a:xfrm>
          <a:prstGeom prst="rect">
            <a:avLst/>
          </a:prstGeom>
          <a:noFill/>
        </p:spPr>
        <p:txBody>
          <a:bodyPr wrap="square" anchor="t" lIns="0" rIns="0" tIns="0" bIns="0">
            <a:spAutoFit/>
          </a:bodyPr>
          <a:lstStyle/>
          <a:p>
            <a:pPr algn="l">
              <a:lnSpc>
                <a:spcPct val="140000"/>
              </a:lnSpc>
            </a:pPr>
            <a:r>
              <a:rPr sz="1300" b="0" i="0">
                <a:solidFill>
                  <a:srgbClr val="4A5568"/>
                </a:solidFill>
                <a:latin typeface="Maison Neue Book"/>
              </a:rPr>
              <a:t>Median fixed speeds below every major ASEAN peer.</a:t>
            </a:r>
          </a:p>
        </p:txBody>
      </p:sp>
      <p:sp>
        <p:nvSpPr>
          <p:cNvPr id="20" name="TextBox 19"/>
          <p:cNvSpPr txBox="1"/>
          <p:nvPr/>
        </p:nvSpPr>
        <p:spPr>
          <a:xfrm>
            <a:off x="457200" y="6400800"/>
            <a:ext cx="11247120" cy="274320"/>
          </a:xfrm>
          <a:prstGeom prst="rect">
            <a:avLst/>
          </a:prstGeom>
          <a:noFill/>
        </p:spPr>
        <p:txBody>
          <a:bodyPr wrap="square" anchor="t" lIns="0" rIns="0" tIns="0" bIns="0">
            <a:spAutoFit/>
          </a:bodyPr>
          <a:lstStyle/>
          <a:p>
            <a:pPr algn="r">
              <a:lnSpc>
                <a:spcPct val="115000"/>
              </a:lnSpc>
            </a:pPr>
            <a:r>
              <a:rPr sz="900" b="0" i="1">
                <a:solidFill>
                  <a:srgbClr val="718096"/>
                </a:solidFill>
                <a:latin typeface="Maison Neue Book"/>
              </a:rPr>
              <a:t>Source: World Bank, "Better Internet for All Filipinos" (January 2024). Ookla (2023, 2025).</a:t>
            </a:r>
          </a:p>
        </p:txBody>
      </p:sp>
      <p:sp>
        <p:nvSpPr>
          <p:cNvPr id="21" name="TextBox 20"/>
          <p:cNvSpPr txBox="1"/>
          <p:nvPr/>
        </p:nvSpPr>
        <p:spPr>
          <a:xfrm>
            <a:off x="457200" y="6400800"/>
            <a:ext cx="1371600" cy="274320"/>
          </a:xfrm>
          <a:prstGeom prst="rect">
            <a:avLst/>
          </a:prstGeom>
          <a:noFill/>
        </p:spPr>
        <p:txBody>
          <a:bodyPr wrap="square" anchor="t" lIns="0" rIns="0" tIns="0" bIns="0">
            <a:spAutoFit/>
          </a:bodyPr>
          <a:lstStyle/>
          <a:p>
            <a:pPr algn="l">
              <a:lnSpc>
                <a:spcPct val="115000"/>
              </a:lnSpc>
            </a:pPr>
            <a:r>
              <a:rPr sz="1000" b="1" i="0">
                <a:solidFill>
                  <a:srgbClr val="718096"/>
                </a:solidFill>
                <a:latin typeface="Maison Neue Demi"/>
              </a:rPr>
              <a:t>RISE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47120" cy="731520"/>
          </a:xfrm>
          <a:prstGeom prst="rect">
            <a:avLst/>
          </a:prstGeom>
          <a:noFill/>
        </p:spPr>
        <p:txBody>
          <a:bodyPr wrap="square" anchor="t" lIns="0" rIns="0" tIns="0" bIns="0">
            <a:spAutoFit/>
          </a:bodyPr>
          <a:lstStyle/>
          <a:p>
            <a:pPr algn="l">
              <a:lnSpc>
                <a:spcPct val="115000"/>
              </a:lnSpc>
            </a:pPr>
            <a:r>
              <a:rPr sz="3400" b="1" i="0">
                <a:solidFill>
                  <a:srgbClr val="104B84"/>
                </a:solidFill>
                <a:latin typeface="Maison Neue Demi"/>
              </a:rPr>
              <a:t>Small ISPs carry the expansion</a:t>
            </a:r>
          </a:p>
        </p:txBody>
      </p:sp>
      <p:sp>
        <p:nvSpPr>
          <p:cNvPr id="3" name="Rectangle 2"/>
          <p:cNvSpPr/>
          <p:nvPr/>
        </p:nvSpPr>
        <p:spPr>
          <a:xfrm>
            <a:off x="457200" y="1143000"/>
            <a:ext cx="11247120" cy="19050"/>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11247120" cy="457200"/>
          </a:xfrm>
          <a:prstGeom prst="rect">
            <a:avLst/>
          </a:prstGeom>
          <a:noFill/>
        </p:spPr>
        <p:txBody>
          <a:bodyPr wrap="square" anchor="t" lIns="0" rIns="0" tIns="0" bIns="0">
            <a:spAutoFit/>
          </a:bodyPr>
          <a:lstStyle/>
          <a:p>
            <a:pPr algn="l">
              <a:lnSpc>
                <a:spcPct val="115000"/>
              </a:lnSpc>
            </a:pPr>
            <a:r>
              <a:rPr sz="1600" b="0" i="1">
                <a:solidFill>
                  <a:srgbClr val="4A5568"/>
                </a:solidFill>
                <a:latin typeface="Maison Neue Book"/>
              </a:rPr>
              <a:t>But the margin structure traps them.</a:t>
            </a:r>
          </a:p>
        </p:txBody>
      </p:sp>
      <p:sp>
        <p:nvSpPr>
          <p:cNvPr id="5" name="Rectangle 4"/>
          <p:cNvSpPr/>
          <p:nvPr/>
        </p:nvSpPr>
        <p:spPr>
          <a:xfrm>
            <a:off x="457200" y="1920240"/>
            <a:ext cx="11277295" cy="25400"/>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965960"/>
            <a:ext cx="5486400" cy="457200"/>
          </a:xfrm>
          <a:prstGeom prst="rect">
            <a:avLst/>
          </a:prstGeom>
          <a:noFill/>
        </p:spPr>
        <p:txBody>
          <a:bodyPr wrap="square" anchor="t" lIns="0" rIns="0" tIns="0" bIns="0">
            <a:spAutoFit/>
          </a:bodyPr>
          <a:lstStyle/>
          <a:p>
            <a:pPr algn="l">
              <a:lnSpc>
                <a:spcPct val="115000"/>
              </a:lnSpc>
            </a:pPr>
            <a:r>
              <a:rPr sz="1100" b="1" i="0">
                <a:solidFill>
                  <a:srgbClr val="4A5568"/>
                </a:solidFill>
                <a:latin typeface="Maison Neue Demi"/>
              </a:rPr>
              <a:t>FIVE-YEAR AVERAGE, 2017-2022</a:t>
            </a:r>
          </a:p>
        </p:txBody>
      </p:sp>
      <p:sp>
        <p:nvSpPr>
          <p:cNvPr id="7" name="TextBox 6"/>
          <p:cNvSpPr txBox="1"/>
          <p:nvPr/>
        </p:nvSpPr>
        <p:spPr>
          <a:xfrm>
            <a:off x="6035040" y="1965960"/>
            <a:ext cx="2880360" cy="457200"/>
          </a:xfrm>
          <a:prstGeom prst="rect">
            <a:avLst/>
          </a:prstGeom>
          <a:noFill/>
        </p:spPr>
        <p:txBody>
          <a:bodyPr wrap="square" anchor="t" lIns="0" rIns="0" tIns="0" bIns="0">
            <a:spAutoFit/>
          </a:bodyPr>
          <a:lstStyle/>
          <a:p>
            <a:pPr algn="ctr">
              <a:lnSpc>
                <a:spcPct val="115000"/>
              </a:lnSpc>
            </a:pPr>
            <a:r>
              <a:rPr sz="1200" b="1" i="0">
                <a:solidFill>
                  <a:srgbClr val="F04F6C"/>
                </a:solidFill>
                <a:latin typeface="Maison Neue Demi"/>
              </a:rPr>
              <a:t>SMALL ISPs</a:t>
            </a:r>
          </a:p>
        </p:txBody>
      </p:sp>
      <p:sp>
        <p:nvSpPr>
          <p:cNvPr id="8" name="TextBox 7"/>
          <p:cNvSpPr txBox="1"/>
          <p:nvPr/>
        </p:nvSpPr>
        <p:spPr>
          <a:xfrm>
            <a:off x="9006840" y="1965960"/>
            <a:ext cx="2697480" cy="457200"/>
          </a:xfrm>
          <a:prstGeom prst="rect">
            <a:avLst/>
          </a:prstGeom>
          <a:noFill/>
        </p:spPr>
        <p:txBody>
          <a:bodyPr wrap="square" anchor="t" lIns="0" rIns="0" tIns="0" bIns="0">
            <a:spAutoFit/>
          </a:bodyPr>
          <a:lstStyle/>
          <a:p>
            <a:pPr algn="ctr">
              <a:lnSpc>
                <a:spcPct val="115000"/>
              </a:lnSpc>
            </a:pPr>
            <a:r>
              <a:rPr sz="1200" b="1" i="0">
                <a:solidFill>
                  <a:srgbClr val="104B84"/>
                </a:solidFill>
                <a:latin typeface="Maison Neue Demi"/>
              </a:rPr>
              <a:t>GLOBE / PLDT</a:t>
            </a:r>
          </a:p>
        </p:txBody>
      </p:sp>
      <p:sp>
        <p:nvSpPr>
          <p:cNvPr id="9" name="Rectangle 8"/>
          <p:cNvSpPr/>
          <p:nvPr/>
        </p:nvSpPr>
        <p:spPr>
          <a:xfrm>
            <a:off x="457200" y="2514600"/>
            <a:ext cx="11277295" cy="19050"/>
          </a:xfrm>
          <a:prstGeom prst="rect">
            <a:avLst/>
          </a:prstGeom>
          <a:solidFill>
            <a:srgbClr val="7180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697480"/>
            <a:ext cx="5486400" cy="594360"/>
          </a:xfrm>
          <a:prstGeom prst="rect">
            <a:avLst/>
          </a:prstGeom>
          <a:noFill/>
        </p:spPr>
        <p:txBody>
          <a:bodyPr wrap="square" anchor="ctr" lIns="0" rIns="0" tIns="0" bIns="0">
            <a:spAutoFit/>
          </a:bodyPr>
          <a:lstStyle/>
          <a:p>
            <a:pPr algn="l">
              <a:lnSpc>
                <a:spcPct val="115000"/>
              </a:lnSpc>
            </a:pPr>
            <a:r>
              <a:rPr sz="1500" b="0" i="0">
                <a:solidFill>
                  <a:srgbClr val="333232"/>
                </a:solidFill>
                <a:latin typeface="Maison Neue Book"/>
              </a:rPr>
              <a:t>Revenue growth</a:t>
            </a:r>
          </a:p>
        </p:txBody>
      </p:sp>
      <p:sp>
        <p:nvSpPr>
          <p:cNvPr id="11" name="TextBox 10"/>
          <p:cNvSpPr txBox="1"/>
          <p:nvPr/>
        </p:nvSpPr>
        <p:spPr>
          <a:xfrm>
            <a:off x="6035040" y="2697480"/>
            <a:ext cx="2880360" cy="594360"/>
          </a:xfrm>
          <a:prstGeom prst="rect">
            <a:avLst/>
          </a:prstGeom>
          <a:noFill/>
        </p:spPr>
        <p:txBody>
          <a:bodyPr wrap="square" anchor="ctr" lIns="0" rIns="0" tIns="0" bIns="0">
            <a:spAutoFit/>
          </a:bodyPr>
          <a:lstStyle/>
          <a:p>
            <a:pPr algn="ctr">
              <a:lnSpc>
                <a:spcPct val="115000"/>
              </a:lnSpc>
            </a:pPr>
            <a:r>
              <a:rPr sz="2400" b="1" i="0">
                <a:solidFill>
                  <a:srgbClr val="F04F6C"/>
                </a:solidFill>
                <a:latin typeface="Maison Neue Demi"/>
              </a:rPr>
              <a:t>83%</a:t>
            </a:r>
          </a:p>
        </p:txBody>
      </p:sp>
      <p:sp>
        <p:nvSpPr>
          <p:cNvPr id="12" name="TextBox 11"/>
          <p:cNvSpPr txBox="1"/>
          <p:nvPr/>
        </p:nvSpPr>
        <p:spPr>
          <a:xfrm>
            <a:off x="9006840" y="2697480"/>
            <a:ext cx="2697480" cy="594360"/>
          </a:xfrm>
          <a:prstGeom prst="rect">
            <a:avLst/>
          </a:prstGeom>
          <a:noFill/>
        </p:spPr>
        <p:txBody>
          <a:bodyPr wrap="square" anchor="ctr" lIns="0" rIns="0" tIns="0" bIns="0">
            <a:spAutoFit/>
          </a:bodyPr>
          <a:lstStyle/>
          <a:p>
            <a:pPr algn="ctr">
              <a:lnSpc>
                <a:spcPct val="115000"/>
              </a:lnSpc>
            </a:pPr>
            <a:r>
              <a:rPr sz="2400" b="1" i="0">
                <a:solidFill>
                  <a:srgbClr val="104B84"/>
                </a:solidFill>
                <a:latin typeface="Maison Neue Demi"/>
              </a:rPr>
              <a:t>29%</a:t>
            </a:r>
          </a:p>
        </p:txBody>
      </p:sp>
      <p:sp>
        <p:nvSpPr>
          <p:cNvPr id="13" name="Rectangle 12"/>
          <p:cNvSpPr/>
          <p:nvPr/>
        </p:nvSpPr>
        <p:spPr>
          <a:xfrm>
            <a:off x="457200" y="3291840"/>
            <a:ext cx="11277295" cy="6350"/>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291840"/>
            <a:ext cx="5486400" cy="594360"/>
          </a:xfrm>
          <a:prstGeom prst="rect">
            <a:avLst/>
          </a:prstGeom>
          <a:noFill/>
        </p:spPr>
        <p:txBody>
          <a:bodyPr wrap="square" anchor="ctr" lIns="0" rIns="0" tIns="0" bIns="0">
            <a:spAutoFit/>
          </a:bodyPr>
          <a:lstStyle/>
          <a:p>
            <a:pPr algn="l">
              <a:lnSpc>
                <a:spcPct val="115000"/>
              </a:lnSpc>
            </a:pPr>
            <a:r>
              <a:rPr sz="1500" b="0" i="0">
                <a:solidFill>
                  <a:srgbClr val="333232"/>
                </a:solidFill>
                <a:latin typeface="Maison Neue Book"/>
              </a:rPr>
              <a:t>Net income margin</a:t>
            </a:r>
          </a:p>
        </p:txBody>
      </p:sp>
      <p:sp>
        <p:nvSpPr>
          <p:cNvPr id="15" name="TextBox 14"/>
          <p:cNvSpPr txBox="1"/>
          <p:nvPr/>
        </p:nvSpPr>
        <p:spPr>
          <a:xfrm>
            <a:off x="6035040" y="3291840"/>
            <a:ext cx="2880360" cy="594360"/>
          </a:xfrm>
          <a:prstGeom prst="rect">
            <a:avLst/>
          </a:prstGeom>
          <a:noFill/>
        </p:spPr>
        <p:txBody>
          <a:bodyPr wrap="square" anchor="ctr" lIns="0" rIns="0" tIns="0" bIns="0">
            <a:spAutoFit/>
          </a:bodyPr>
          <a:lstStyle/>
          <a:p>
            <a:pPr algn="ctr">
              <a:lnSpc>
                <a:spcPct val="115000"/>
              </a:lnSpc>
            </a:pPr>
            <a:r>
              <a:rPr sz="2400" b="1" i="0">
                <a:solidFill>
                  <a:srgbClr val="F04F6C"/>
                </a:solidFill>
                <a:latin typeface="Maison Neue Demi"/>
              </a:rPr>
              <a:t>4%</a:t>
            </a:r>
          </a:p>
        </p:txBody>
      </p:sp>
      <p:sp>
        <p:nvSpPr>
          <p:cNvPr id="16" name="TextBox 15"/>
          <p:cNvSpPr txBox="1"/>
          <p:nvPr/>
        </p:nvSpPr>
        <p:spPr>
          <a:xfrm>
            <a:off x="9006840" y="3291840"/>
            <a:ext cx="2697480" cy="594360"/>
          </a:xfrm>
          <a:prstGeom prst="rect">
            <a:avLst/>
          </a:prstGeom>
          <a:noFill/>
        </p:spPr>
        <p:txBody>
          <a:bodyPr wrap="square" anchor="ctr" lIns="0" rIns="0" tIns="0" bIns="0">
            <a:spAutoFit/>
          </a:bodyPr>
          <a:lstStyle/>
          <a:p>
            <a:pPr algn="ctr">
              <a:lnSpc>
                <a:spcPct val="115000"/>
              </a:lnSpc>
            </a:pPr>
            <a:r>
              <a:rPr sz="2400" b="1" i="0">
                <a:solidFill>
                  <a:srgbClr val="104B84"/>
                </a:solidFill>
                <a:latin typeface="Maison Neue Demi"/>
              </a:rPr>
              <a:t>14%</a:t>
            </a:r>
          </a:p>
        </p:txBody>
      </p:sp>
      <p:sp>
        <p:nvSpPr>
          <p:cNvPr id="17" name="Rectangle 16"/>
          <p:cNvSpPr/>
          <p:nvPr/>
        </p:nvSpPr>
        <p:spPr>
          <a:xfrm>
            <a:off x="457200" y="3886200"/>
            <a:ext cx="11277295" cy="6350"/>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886200"/>
            <a:ext cx="5486400" cy="594360"/>
          </a:xfrm>
          <a:prstGeom prst="rect">
            <a:avLst/>
          </a:prstGeom>
          <a:noFill/>
        </p:spPr>
        <p:txBody>
          <a:bodyPr wrap="square" anchor="ctr" lIns="0" rIns="0" tIns="0" bIns="0">
            <a:spAutoFit/>
          </a:bodyPr>
          <a:lstStyle/>
          <a:p>
            <a:pPr algn="l">
              <a:lnSpc>
                <a:spcPct val="115000"/>
              </a:lnSpc>
            </a:pPr>
            <a:r>
              <a:rPr sz="1500" b="0" i="0">
                <a:solidFill>
                  <a:srgbClr val="333232"/>
                </a:solidFill>
                <a:latin typeface="Maison Neue Book"/>
              </a:rPr>
              <a:t>CAPEX as % of revenue</a:t>
            </a:r>
          </a:p>
        </p:txBody>
      </p:sp>
      <p:sp>
        <p:nvSpPr>
          <p:cNvPr id="19" name="TextBox 18"/>
          <p:cNvSpPr txBox="1"/>
          <p:nvPr/>
        </p:nvSpPr>
        <p:spPr>
          <a:xfrm>
            <a:off x="6035040" y="3886200"/>
            <a:ext cx="2880360" cy="594360"/>
          </a:xfrm>
          <a:prstGeom prst="rect">
            <a:avLst/>
          </a:prstGeom>
          <a:noFill/>
        </p:spPr>
        <p:txBody>
          <a:bodyPr wrap="square" anchor="ctr" lIns="0" rIns="0" tIns="0" bIns="0">
            <a:spAutoFit/>
          </a:bodyPr>
          <a:lstStyle/>
          <a:p>
            <a:pPr algn="ctr">
              <a:lnSpc>
                <a:spcPct val="115000"/>
              </a:lnSpc>
            </a:pPr>
            <a:r>
              <a:rPr sz="2400" b="1" i="0">
                <a:solidFill>
                  <a:srgbClr val="F04F6C"/>
                </a:solidFill>
                <a:latin typeface="Maison Neue Demi"/>
              </a:rPr>
              <a:t>17%</a:t>
            </a:r>
          </a:p>
        </p:txBody>
      </p:sp>
      <p:sp>
        <p:nvSpPr>
          <p:cNvPr id="20" name="TextBox 19"/>
          <p:cNvSpPr txBox="1"/>
          <p:nvPr/>
        </p:nvSpPr>
        <p:spPr>
          <a:xfrm>
            <a:off x="9006840" y="3886200"/>
            <a:ext cx="2697480" cy="594360"/>
          </a:xfrm>
          <a:prstGeom prst="rect">
            <a:avLst/>
          </a:prstGeom>
          <a:noFill/>
        </p:spPr>
        <p:txBody>
          <a:bodyPr wrap="square" anchor="ctr" lIns="0" rIns="0" tIns="0" bIns="0">
            <a:spAutoFit/>
          </a:bodyPr>
          <a:lstStyle/>
          <a:p>
            <a:pPr algn="ctr">
              <a:lnSpc>
                <a:spcPct val="115000"/>
              </a:lnSpc>
            </a:pPr>
            <a:r>
              <a:rPr sz="2400" b="1" i="0">
                <a:solidFill>
                  <a:srgbClr val="104B84"/>
                </a:solidFill>
                <a:latin typeface="Maison Neue Demi"/>
              </a:rPr>
              <a:t>47%</a:t>
            </a:r>
          </a:p>
        </p:txBody>
      </p:sp>
      <p:sp>
        <p:nvSpPr>
          <p:cNvPr id="21" name="Rectangle 20"/>
          <p:cNvSpPr/>
          <p:nvPr/>
        </p:nvSpPr>
        <p:spPr>
          <a:xfrm>
            <a:off x="457200" y="4480560"/>
            <a:ext cx="11277295" cy="6350"/>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480560"/>
            <a:ext cx="5486400" cy="594360"/>
          </a:xfrm>
          <a:prstGeom prst="rect">
            <a:avLst/>
          </a:prstGeom>
          <a:noFill/>
        </p:spPr>
        <p:txBody>
          <a:bodyPr wrap="square" anchor="ctr" lIns="0" rIns="0" tIns="0" bIns="0">
            <a:spAutoFit/>
          </a:bodyPr>
          <a:lstStyle/>
          <a:p>
            <a:pPr algn="l">
              <a:lnSpc>
                <a:spcPct val="115000"/>
              </a:lnSpc>
            </a:pPr>
            <a:r>
              <a:rPr sz="1500" b="0" i="0">
                <a:solidFill>
                  <a:srgbClr val="333232"/>
                </a:solidFill>
                <a:latin typeface="Maison Neue Book"/>
              </a:rPr>
              <a:t>Wholesale bandwidth as % of revenue</a:t>
            </a:r>
          </a:p>
        </p:txBody>
      </p:sp>
      <p:sp>
        <p:nvSpPr>
          <p:cNvPr id="23" name="TextBox 22"/>
          <p:cNvSpPr txBox="1"/>
          <p:nvPr/>
        </p:nvSpPr>
        <p:spPr>
          <a:xfrm>
            <a:off x="6035040" y="4480560"/>
            <a:ext cx="2880360" cy="594360"/>
          </a:xfrm>
          <a:prstGeom prst="rect">
            <a:avLst/>
          </a:prstGeom>
          <a:noFill/>
        </p:spPr>
        <p:txBody>
          <a:bodyPr wrap="square" anchor="ctr" lIns="0" rIns="0" tIns="0" bIns="0">
            <a:spAutoFit/>
          </a:bodyPr>
          <a:lstStyle/>
          <a:p>
            <a:pPr algn="ctr">
              <a:lnSpc>
                <a:spcPct val="115000"/>
              </a:lnSpc>
            </a:pPr>
            <a:r>
              <a:rPr sz="2400" b="1" i="0">
                <a:solidFill>
                  <a:srgbClr val="F04F6C"/>
                </a:solidFill>
                <a:latin typeface="Maison Neue Demi"/>
              </a:rPr>
              <a:t>~33%</a:t>
            </a:r>
          </a:p>
        </p:txBody>
      </p:sp>
      <p:sp>
        <p:nvSpPr>
          <p:cNvPr id="24" name="TextBox 23"/>
          <p:cNvSpPr txBox="1"/>
          <p:nvPr/>
        </p:nvSpPr>
        <p:spPr>
          <a:xfrm>
            <a:off x="9006840" y="4480560"/>
            <a:ext cx="2697480" cy="594360"/>
          </a:xfrm>
          <a:prstGeom prst="rect">
            <a:avLst/>
          </a:prstGeom>
          <a:noFill/>
        </p:spPr>
        <p:txBody>
          <a:bodyPr wrap="square" anchor="ctr" lIns="0" rIns="0" tIns="0" bIns="0">
            <a:spAutoFit/>
          </a:bodyPr>
          <a:lstStyle/>
          <a:p>
            <a:pPr algn="ctr">
              <a:lnSpc>
                <a:spcPct val="115000"/>
              </a:lnSpc>
            </a:pPr>
            <a:r>
              <a:rPr sz="2400" b="1" i="0">
                <a:solidFill>
                  <a:srgbClr val="104B84"/>
                </a:solidFill>
                <a:latin typeface="Maison Neue Demi"/>
              </a:rPr>
              <a:t>—</a:t>
            </a:r>
          </a:p>
        </p:txBody>
      </p:sp>
      <p:sp>
        <p:nvSpPr>
          <p:cNvPr id="25" name="Rectangle 24"/>
          <p:cNvSpPr/>
          <p:nvPr/>
        </p:nvSpPr>
        <p:spPr>
          <a:xfrm>
            <a:off x="457200" y="5074920"/>
            <a:ext cx="11277295" cy="6350"/>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5349240"/>
            <a:ext cx="11277295" cy="77724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5349240"/>
            <a:ext cx="50800" cy="777240"/>
          </a:xfrm>
          <a:prstGeom prst="rect">
            <a:avLst/>
          </a:prstGeom>
          <a:solidFill>
            <a:srgbClr val="D69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458968"/>
            <a:ext cx="10820095" cy="548640"/>
          </a:xfrm>
          <a:prstGeom prst="rect">
            <a:avLst/>
          </a:prstGeom>
          <a:noFill/>
        </p:spPr>
        <p:txBody>
          <a:bodyPr wrap="square" anchor="t" lIns="0" rIns="0" tIns="0" bIns="0">
            <a:spAutoFit/>
          </a:bodyPr>
          <a:lstStyle/>
          <a:p>
            <a:pPr algn="l">
              <a:lnSpc>
                <a:spcPct val="130000"/>
              </a:lnSpc>
            </a:pPr>
            <a:r>
              <a:rPr sz="1300" b="0" i="0">
                <a:solidFill>
                  <a:srgbClr val="744210"/>
                </a:solidFill>
                <a:latin typeface="Maison Neue Book"/>
              </a:rPr>
              <a:t>Many small ISPs began as cable TV operators, now running fiber. They can't build faster, cheaper, or better because there's almost no revenue left to reinvest.</a:t>
            </a:r>
          </a:p>
        </p:txBody>
      </p:sp>
      <p:sp>
        <p:nvSpPr>
          <p:cNvPr id="29" name="TextBox 28"/>
          <p:cNvSpPr txBox="1"/>
          <p:nvPr/>
        </p:nvSpPr>
        <p:spPr>
          <a:xfrm>
            <a:off x="457200" y="6400800"/>
            <a:ext cx="11247120" cy="274320"/>
          </a:xfrm>
          <a:prstGeom prst="rect">
            <a:avLst/>
          </a:prstGeom>
          <a:noFill/>
        </p:spPr>
        <p:txBody>
          <a:bodyPr wrap="square" anchor="t" lIns="0" rIns="0" tIns="0" bIns="0">
            <a:spAutoFit/>
          </a:bodyPr>
          <a:lstStyle/>
          <a:p>
            <a:pPr algn="r">
              <a:lnSpc>
                <a:spcPct val="115000"/>
              </a:lnSpc>
            </a:pPr>
            <a:r>
              <a:rPr sz="900" b="0" i="1">
                <a:solidFill>
                  <a:srgbClr val="718096"/>
                </a:solidFill>
                <a:latin typeface="Maison Neue Book"/>
              </a:rPr>
              <a:t>Source: World Bank, 2024, based on PSE and SEC financial statements.</a:t>
            </a:r>
          </a:p>
        </p:txBody>
      </p:sp>
      <p:sp>
        <p:nvSpPr>
          <p:cNvPr id="30" name="TextBox 29"/>
          <p:cNvSpPr txBox="1"/>
          <p:nvPr/>
        </p:nvSpPr>
        <p:spPr>
          <a:xfrm>
            <a:off x="457200" y="6400800"/>
            <a:ext cx="1371600" cy="274320"/>
          </a:xfrm>
          <a:prstGeom prst="rect">
            <a:avLst/>
          </a:prstGeom>
          <a:noFill/>
        </p:spPr>
        <p:txBody>
          <a:bodyPr wrap="square" anchor="t" lIns="0" rIns="0" tIns="0" bIns="0">
            <a:spAutoFit/>
          </a:bodyPr>
          <a:lstStyle/>
          <a:p>
            <a:pPr algn="l">
              <a:lnSpc>
                <a:spcPct val="115000"/>
              </a:lnSpc>
            </a:pPr>
            <a:r>
              <a:rPr sz="1000" b="1" i="0">
                <a:solidFill>
                  <a:srgbClr val="718096"/>
                </a:solidFill>
                <a:latin typeface="Maison Neue Demi"/>
              </a:rPr>
              <a:t>RISE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47120" cy="731520"/>
          </a:xfrm>
          <a:prstGeom prst="rect">
            <a:avLst/>
          </a:prstGeom>
          <a:noFill/>
        </p:spPr>
        <p:txBody>
          <a:bodyPr wrap="square" anchor="t" lIns="0" rIns="0" tIns="0" bIns="0">
            <a:spAutoFit/>
          </a:bodyPr>
          <a:lstStyle/>
          <a:p>
            <a:pPr algn="l">
              <a:lnSpc>
                <a:spcPct val="115000"/>
              </a:lnSpc>
            </a:pPr>
            <a:r>
              <a:rPr sz="3400" b="1" i="0">
                <a:solidFill>
                  <a:srgbClr val="104B84"/>
                </a:solidFill>
                <a:latin typeface="Maison Neue Demi"/>
              </a:rPr>
              <a:t>Capability is the lever</a:t>
            </a:r>
          </a:p>
        </p:txBody>
      </p:sp>
      <p:sp>
        <p:nvSpPr>
          <p:cNvPr id="3" name="Rectangle 2"/>
          <p:cNvSpPr/>
          <p:nvPr/>
        </p:nvSpPr>
        <p:spPr>
          <a:xfrm>
            <a:off x="457200" y="1143000"/>
            <a:ext cx="11247120" cy="19050"/>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11247120" cy="457200"/>
          </a:xfrm>
          <a:prstGeom prst="rect">
            <a:avLst/>
          </a:prstGeom>
          <a:noFill/>
        </p:spPr>
        <p:txBody>
          <a:bodyPr wrap="square" anchor="t" lIns="0" rIns="0" tIns="0" bIns="0">
            <a:spAutoFit/>
          </a:bodyPr>
          <a:lstStyle/>
          <a:p>
            <a:pPr algn="l">
              <a:lnSpc>
                <a:spcPct val="115000"/>
              </a:lnSpc>
            </a:pPr>
            <a:r>
              <a:rPr sz="1600" b="0" i="1">
                <a:solidFill>
                  <a:srgbClr val="4A5568"/>
                </a:solidFill>
                <a:latin typeface="Maison Neue Book"/>
              </a:rPr>
              <a:t>Regulatory reform is coming. Capability is controllable today.</a:t>
            </a:r>
          </a:p>
        </p:txBody>
      </p:sp>
      <p:sp>
        <p:nvSpPr>
          <p:cNvPr id="5" name="Rectangle 4"/>
          <p:cNvSpPr/>
          <p:nvPr/>
        </p:nvSpPr>
        <p:spPr>
          <a:xfrm>
            <a:off x="457200" y="2377440"/>
            <a:ext cx="2011680" cy="201168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377440"/>
            <a:ext cx="2011680" cy="50800"/>
          </a:xfrm>
          <a:prstGeom prst="rect">
            <a:avLst/>
          </a:prstGeom>
          <a:solidFill>
            <a:srgbClr val="104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560320"/>
            <a:ext cx="1828800" cy="1645920"/>
          </a:xfrm>
          <a:prstGeom prst="rect">
            <a:avLst/>
          </a:prstGeom>
          <a:noFill/>
        </p:spPr>
        <p:txBody>
          <a:bodyPr wrap="square" anchor="ctr" lIns="0" rIns="0" tIns="0" bIns="0">
            <a:spAutoFit/>
          </a:bodyPr>
          <a:lstStyle/>
          <a:p>
            <a:pPr algn="ctr">
              <a:lnSpc>
                <a:spcPct val="125000"/>
              </a:lnSpc>
            </a:pPr>
            <a:r>
              <a:rPr sz="1600" b="1" i="0">
                <a:solidFill>
                  <a:srgbClr val="333232"/>
                </a:solidFill>
                <a:latin typeface="Maison Neue Demi"/>
              </a:rPr>
              <a:t>Capability</a:t>
            </a:r>
          </a:p>
        </p:txBody>
      </p:sp>
      <p:sp>
        <p:nvSpPr>
          <p:cNvPr id="8" name="TextBox 7"/>
          <p:cNvSpPr txBox="1"/>
          <p:nvPr/>
        </p:nvSpPr>
        <p:spPr>
          <a:xfrm>
            <a:off x="2468880" y="3246120"/>
            <a:ext cx="304723" cy="320040"/>
          </a:xfrm>
          <a:prstGeom prst="rect">
            <a:avLst/>
          </a:prstGeom>
          <a:noFill/>
        </p:spPr>
        <p:txBody>
          <a:bodyPr wrap="square" anchor="ctr" lIns="0" rIns="0" tIns="0" bIns="0">
            <a:spAutoFit/>
          </a:bodyPr>
          <a:lstStyle/>
          <a:p>
            <a:pPr algn="ctr">
              <a:lnSpc>
                <a:spcPct val="115000"/>
              </a:lnSpc>
            </a:pPr>
            <a:r>
              <a:rPr sz="2200" b="0" i="0">
                <a:solidFill>
                  <a:srgbClr val="718096"/>
                </a:solidFill>
                <a:latin typeface="Maison Neue Demi"/>
              </a:rPr>
              <a:t>→</a:t>
            </a:r>
          </a:p>
        </p:txBody>
      </p:sp>
      <p:sp>
        <p:nvSpPr>
          <p:cNvPr id="9" name="Rectangle 8"/>
          <p:cNvSpPr/>
          <p:nvPr/>
        </p:nvSpPr>
        <p:spPr>
          <a:xfrm>
            <a:off x="2773603" y="2377440"/>
            <a:ext cx="2011680" cy="201168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73603" y="2377440"/>
            <a:ext cx="2011680" cy="50800"/>
          </a:xfrm>
          <a:prstGeom prst="rect">
            <a:avLst/>
          </a:prstGeom>
          <a:solidFill>
            <a:srgbClr val="104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65043" y="2560320"/>
            <a:ext cx="1828800" cy="1645920"/>
          </a:xfrm>
          <a:prstGeom prst="rect">
            <a:avLst/>
          </a:prstGeom>
          <a:noFill/>
        </p:spPr>
        <p:txBody>
          <a:bodyPr wrap="square" anchor="ctr" lIns="0" rIns="0" tIns="0" bIns="0">
            <a:spAutoFit/>
          </a:bodyPr>
          <a:lstStyle/>
          <a:p>
            <a:pPr algn="ctr">
              <a:lnSpc>
                <a:spcPct val="125000"/>
              </a:lnSpc>
            </a:pPr>
            <a:r>
              <a:rPr sz="1600" b="0" i="0">
                <a:solidFill>
                  <a:srgbClr val="333232"/>
                </a:solidFill>
                <a:latin typeface="Maison Neue Book"/>
              </a:rPr>
              <a:t>Peering,
routing security,
IXP participation</a:t>
            </a:r>
          </a:p>
        </p:txBody>
      </p:sp>
      <p:sp>
        <p:nvSpPr>
          <p:cNvPr id="12" name="TextBox 11"/>
          <p:cNvSpPr txBox="1"/>
          <p:nvPr/>
        </p:nvSpPr>
        <p:spPr>
          <a:xfrm>
            <a:off x="4785283" y="3246120"/>
            <a:ext cx="304723" cy="320040"/>
          </a:xfrm>
          <a:prstGeom prst="rect">
            <a:avLst/>
          </a:prstGeom>
          <a:noFill/>
        </p:spPr>
        <p:txBody>
          <a:bodyPr wrap="square" anchor="ctr" lIns="0" rIns="0" tIns="0" bIns="0">
            <a:spAutoFit/>
          </a:bodyPr>
          <a:lstStyle/>
          <a:p>
            <a:pPr algn="ctr">
              <a:lnSpc>
                <a:spcPct val="115000"/>
              </a:lnSpc>
            </a:pPr>
            <a:r>
              <a:rPr sz="2200" b="0" i="0">
                <a:solidFill>
                  <a:srgbClr val="718096"/>
                </a:solidFill>
                <a:latin typeface="Maison Neue Demi"/>
              </a:rPr>
              <a:t>→</a:t>
            </a:r>
          </a:p>
        </p:txBody>
      </p:sp>
      <p:sp>
        <p:nvSpPr>
          <p:cNvPr id="13" name="Rectangle 12"/>
          <p:cNvSpPr/>
          <p:nvPr/>
        </p:nvSpPr>
        <p:spPr>
          <a:xfrm>
            <a:off x="5090007" y="2377440"/>
            <a:ext cx="2011680" cy="201168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90007" y="2377440"/>
            <a:ext cx="2011680" cy="50800"/>
          </a:xfrm>
          <a:prstGeom prst="rect">
            <a:avLst/>
          </a:prstGeom>
          <a:solidFill>
            <a:srgbClr val="104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81447" y="2560320"/>
            <a:ext cx="1828800" cy="1645920"/>
          </a:xfrm>
          <a:prstGeom prst="rect">
            <a:avLst/>
          </a:prstGeom>
          <a:noFill/>
        </p:spPr>
        <p:txBody>
          <a:bodyPr wrap="square" anchor="ctr" lIns="0" rIns="0" tIns="0" bIns="0">
            <a:spAutoFit/>
          </a:bodyPr>
          <a:lstStyle/>
          <a:p>
            <a:pPr algn="ctr">
              <a:lnSpc>
                <a:spcPct val="125000"/>
              </a:lnSpc>
            </a:pPr>
            <a:r>
              <a:rPr sz="1600" b="0" i="0">
                <a:solidFill>
                  <a:srgbClr val="333232"/>
                </a:solidFill>
                <a:latin typeface="Maison Neue Book"/>
              </a:rPr>
              <a:t>Lower
bandwidth
spend</a:t>
            </a:r>
          </a:p>
        </p:txBody>
      </p:sp>
      <p:sp>
        <p:nvSpPr>
          <p:cNvPr id="16" name="TextBox 15"/>
          <p:cNvSpPr txBox="1"/>
          <p:nvPr/>
        </p:nvSpPr>
        <p:spPr>
          <a:xfrm>
            <a:off x="7101687" y="3246120"/>
            <a:ext cx="304723" cy="320040"/>
          </a:xfrm>
          <a:prstGeom prst="rect">
            <a:avLst/>
          </a:prstGeom>
          <a:noFill/>
        </p:spPr>
        <p:txBody>
          <a:bodyPr wrap="square" anchor="ctr" lIns="0" rIns="0" tIns="0" bIns="0">
            <a:spAutoFit/>
          </a:bodyPr>
          <a:lstStyle/>
          <a:p>
            <a:pPr algn="ctr">
              <a:lnSpc>
                <a:spcPct val="115000"/>
              </a:lnSpc>
            </a:pPr>
            <a:r>
              <a:rPr sz="2200" b="0" i="0">
                <a:solidFill>
                  <a:srgbClr val="718096"/>
                </a:solidFill>
                <a:latin typeface="Maison Neue Demi"/>
              </a:rPr>
              <a:t>→</a:t>
            </a:r>
          </a:p>
        </p:txBody>
      </p:sp>
      <p:sp>
        <p:nvSpPr>
          <p:cNvPr id="17" name="Rectangle 16"/>
          <p:cNvSpPr/>
          <p:nvPr/>
        </p:nvSpPr>
        <p:spPr>
          <a:xfrm>
            <a:off x="7406411" y="2377440"/>
            <a:ext cx="2011680" cy="201168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06411" y="2377440"/>
            <a:ext cx="2011680" cy="50800"/>
          </a:xfrm>
          <a:prstGeom prst="rect">
            <a:avLst/>
          </a:prstGeom>
          <a:solidFill>
            <a:srgbClr val="104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7851" y="2560320"/>
            <a:ext cx="1828800" cy="1645920"/>
          </a:xfrm>
          <a:prstGeom prst="rect">
            <a:avLst/>
          </a:prstGeom>
          <a:noFill/>
        </p:spPr>
        <p:txBody>
          <a:bodyPr wrap="square" anchor="ctr" lIns="0" rIns="0" tIns="0" bIns="0">
            <a:spAutoFit/>
          </a:bodyPr>
          <a:lstStyle/>
          <a:p>
            <a:pPr algn="ctr">
              <a:lnSpc>
                <a:spcPct val="125000"/>
              </a:lnSpc>
            </a:pPr>
            <a:r>
              <a:rPr sz="1600" b="0" i="0">
                <a:solidFill>
                  <a:srgbClr val="333232"/>
                </a:solidFill>
                <a:latin typeface="Maison Neue Book"/>
              </a:rPr>
              <a:t>Restored
reinvestment
capacity</a:t>
            </a:r>
          </a:p>
        </p:txBody>
      </p:sp>
      <p:sp>
        <p:nvSpPr>
          <p:cNvPr id="20" name="TextBox 19"/>
          <p:cNvSpPr txBox="1"/>
          <p:nvPr/>
        </p:nvSpPr>
        <p:spPr>
          <a:xfrm>
            <a:off x="9418091" y="3246120"/>
            <a:ext cx="304723" cy="320040"/>
          </a:xfrm>
          <a:prstGeom prst="rect">
            <a:avLst/>
          </a:prstGeom>
          <a:noFill/>
        </p:spPr>
        <p:txBody>
          <a:bodyPr wrap="square" anchor="ctr" lIns="0" rIns="0" tIns="0" bIns="0">
            <a:spAutoFit/>
          </a:bodyPr>
          <a:lstStyle/>
          <a:p>
            <a:pPr algn="ctr">
              <a:lnSpc>
                <a:spcPct val="115000"/>
              </a:lnSpc>
            </a:pPr>
            <a:r>
              <a:rPr sz="2200" b="0" i="0">
                <a:solidFill>
                  <a:srgbClr val="718096"/>
                </a:solidFill>
                <a:latin typeface="Maison Neue Demi"/>
              </a:rPr>
              <a:t>→</a:t>
            </a:r>
          </a:p>
        </p:txBody>
      </p:sp>
      <p:sp>
        <p:nvSpPr>
          <p:cNvPr id="21" name="Rectangle 20"/>
          <p:cNvSpPr/>
          <p:nvPr/>
        </p:nvSpPr>
        <p:spPr>
          <a:xfrm>
            <a:off x="9722815" y="2377440"/>
            <a:ext cx="2011680" cy="2011680"/>
          </a:xfrm>
          <a:prstGeom prst="rect">
            <a:avLst/>
          </a:prstGeom>
          <a:solidFill>
            <a:srgbClr val="EBF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722815" y="2377440"/>
            <a:ext cx="2011680" cy="50800"/>
          </a:xfrm>
          <a:prstGeom prst="rect">
            <a:avLst/>
          </a:prstGeom>
          <a:solidFill>
            <a:srgbClr val="27B9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14255" y="2560320"/>
            <a:ext cx="1828800" cy="1645920"/>
          </a:xfrm>
          <a:prstGeom prst="rect">
            <a:avLst/>
          </a:prstGeom>
          <a:noFill/>
        </p:spPr>
        <p:txBody>
          <a:bodyPr wrap="square" anchor="ctr" lIns="0" rIns="0" tIns="0" bIns="0">
            <a:spAutoFit/>
          </a:bodyPr>
          <a:lstStyle/>
          <a:p>
            <a:pPr algn="ctr">
              <a:lnSpc>
                <a:spcPct val="125000"/>
              </a:lnSpc>
            </a:pPr>
            <a:r>
              <a:rPr sz="1600" b="1" i="0">
                <a:solidFill>
                  <a:srgbClr val="27B99A"/>
                </a:solidFill>
                <a:latin typeface="Maison Neue Demi"/>
              </a:rPr>
              <a:t>Access
Affordability
Quality</a:t>
            </a:r>
          </a:p>
        </p:txBody>
      </p:sp>
      <p:sp>
        <p:nvSpPr>
          <p:cNvPr id="24" name="TextBox 23"/>
          <p:cNvSpPr txBox="1"/>
          <p:nvPr/>
        </p:nvSpPr>
        <p:spPr>
          <a:xfrm>
            <a:off x="457200" y="4754880"/>
            <a:ext cx="11277295" cy="365760"/>
          </a:xfrm>
          <a:prstGeom prst="rect">
            <a:avLst/>
          </a:prstGeom>
          <a:noFill/>
        </p:spPr>
        <p:txBody>
          <a:bodyPr wrap="square" anchor="t" lIns="0" rIns="0" tIns="0" bIns="0">
            <a:spAutoFit/>
          </a:bodyPr>
          <a:lstStyle/>
          <a:p>
            <a:pPr algn="ctr">
              <a:lnSpc>
                <a:spcPct val="115000"/>
              </a:lnSpc>
            </a:pPr>
            <a:r>
              <a:rPr sz="1400" b="0" i="1">
                <a:solidFill>
                  <a:srgbClr val="4A5568"/>
                </a:solidFill>
                <a:latin typeface="Maison Neue Book"/>
              </a:rPr>
              <a:t>Reinvestment is what moves the three World Bank indicators.</a:t>
            </a:r>
          </a:p>
        </p:txBody>
      </p:sp>
      <p:sp>
        <p:nvSpPr>
          <p:cNvPr id="25" name="TextBox 24"/>
          <p:cNvSpPr txBox="1"/>
          <p:nvPr/>
        </p:nvSpPr>
        <p:spPr>
          <a:xfrm>
            <a:off x="457200" y="6400800"/>
            <a:ext cx="1371600" cy="274320"/>
          </a:xfrm>
          <a:prstGeom prst="rect">
            <a:avLst/>
          </a:prstGeom>
          <a:noFill/>
        </p:spPr>
        <p:txBody>
          <a:bodyPr wrap="square" anchor="t" lIns="0" rIns="0" tIns="0" bIns="0">
            <a:spAutoFit/>
          </a:bodyPr>
          <a:lstStyle/>
          <a:p>
            <a:pPr algn="l">
              <a:lnSpc>
                <a:spcPct val="115000"/>
              </a:lnSpc>
            </a:pPr>
            <a:r>
              <a:rPr sz="1000" b="1" i="0">
                <a:solidFill>
                  <a:srgbClr val="718096"/>
                </a:solidFill>
                <a:latin typeface="Maison Neue Demi"/>
              </a:rPr>
              <a:t>RISE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47120" cy="731520"/>
          </a:xfrm>
          <a:prstGeom prst="rect">
            <a:avLst/>
          </a:prstGeom>
          <a:noFill/>
        </p:spPr>
        <p:txBody>
          <a:bodyPr wrap="square" anchor="t" lIns="0" rIns="0" tIns="0" bIns="0">
            <a:spAutoFit/>
          </a:bodyPr>
          <a:lstStyle/>
          <a:p>
            <a:pPr algn="l">
              <a:lnSpc>
                <a:spcPct val="115000"/>
              </a:lnSpc>
            </a:pPr>
            <a:r>
              <a:rPr sz="3400" b="1" i="0">
                <a:solidFill>
                  <a:srgbClr val="104B84"/>
                </a:solidFill>
                <a:latin typeface="Maison Neue Demi"/>
              </a:rPr>
              <a:t>IXperience Pro</a:t>
            </a:r>
          </a:p>
        </p:txBody>
      </p:sp>
      <p:sp>
        <p:nvSpPr>
          <p:cNvPr id="3" name="Rectangle 2"/>
          <p:cNvSpPr/>
          <p:nvPr/>
        </p:nvSpPr>
        <p:spPr>
          <a:xfrm>
            <a:off x="457200" y="1143000"/>
            <a:ext cx="11247120" cy="19050"/>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11247120" cy="457200"/>
          </a:xfrm>
          <a:prstGeom prst="rect">
            <a:avLst/>
          </a:prstGeom>
          <a:noFill/>
        </p:spPr>
        <p:txBody>
          <a:bodyPr wrap="square" anchor="t" lIns="0" rIns="0" tIns="0" bIns="0">
            <a:spAutoFit/>
          </a:bodyPr>
          <a:lstStyle/>
          <a:p>
            <a:pPr algn="l">
              <a:lnSpc>
                <a:spcPct val="115000"/>
              </a:lnSpc>
            </a:pPr>
            <a:r>
              <a:rPr sz="1600" b="0" i="1">
                <a:solidFill>
                  <a:srgbClr val="4A5568"/>
                </a:solidFill>
                <a:latin typeface="Maison Neue Book"/>
              </a:rPr>
              <a:t>A structured cohort program for provincial Philippine engineers, co-developed with APNIC Academy.</a:t>
            </a:r>
          </a:p>
        </p:txBody>
      </p:sp>
      <p:sp>
        <p:nvSpPr>
          <p:cNvPr id="5" name="Rectangle 4"/>
          <p:cNvSpPr/>
          <p:nvPr/>
        </p:nvSpPr>
        <p:spPr>
          <a:xfrm>
            <a:off x="457200" y="1920240"/>
            <a:ext cx="2716453" cy="146304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920240"/>
            <a:ext cx="2716453" cy="50800"/>
          </a:xfrm>
          <a:prstGeom prst="rect">
            <a:avLst/>
          </a:prstGeom>
          <a:solidFill>
            <a:srgbClr val="104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48840"/>
            <a:ext cx="2350693" cy="274320"/>
          </a:xfrm>
          <a:prstGeom prst="rect">
            <a:avLst/>
          </a:prstGeom>
          <a:noFill/>
        </p:spPr>
        <p:txBody>
          <a:bodyPr wrap="square" anchor="t" lIns="0" rIns="0" tIns="0" bIns="0">
            <a:spAutoFit/>
          </a:bodyPr>
          <a:lstStyle/>
          <a:p>
            <a:pPr algn="l">
              <a:lnSpc>
                <a:spcPct val="115000"/>
              </a:lnSpc>
            </a:pPr>
            <a:r>
              <a:rPr sz="1000" b="1" i="0">
                <a:solidFill>
                  <a:srgbClr val="718096"/>
                </a:solidFill>
                <a:latin typeface="Maison Neue Demi"/>
              </a:rPr>
              <a:t>MODULE 1</a:t>
            </a:r>
          </a:p>
        </p:txBody>
      </p:sp>
      <p:sp>
        <p:nvSpPr>
          <p:cNvPr id="8" name="TextBox 7"/>
          <p:cNvSpPr txBox="1"/>
          <p:nvPr/>
        </p:nvSpPr>
        <p:spPr>
          <a:xfrm>
            <a:off x="640080" y="2423160"/>
            <a:ext cx="2350693" cy="822960"/>
          </a:xfrm>
          <a:prstGeom prst="rect">
            <a:avLst/>
          </a:prstGeom>
          <a:noFill/>
        </p:spPr>
        <p:txBody>
          <a:bodyPr wrap="square" anchor="t" lIns="0" rIns="0" tIns="0" bIns="0">
            <a:spAutoFit/>
          </a:bodyPr>
          <a:lstStyle/>
          <a:p>
            <a:pPr algn="l">
              <a:lnSpc>
                <a:spcPct val="125000"/>
              </a:lnSpc>
            </a:pPr>
            <a:r>
              <a:rPr sz="1800" b="1" i="0">
                <a:solidFill>
                  <a:srgbClr val="104B84"/>
                </a:solidFill>
                <a:latin typeface="Maison Neue Demi"/>
              </a:rPr>
              <a:t>BGP fundamentals</a:t>
            </a:r>
          </a:p>
        </p:txBody>
      </p:sp>
      <p:sp>
        <p:nvSpPr>
          <p:cNvPr id="9" name="Rectangle 8"/>
          <p:cNvSpPr/>
          <p:nvPr/>
        </p:nvSpPr>
        <p:spPr>
          <a:xfrm>
            <a:off x="3310813" y="1920240"/>
            <a:ext cx="2716453" cy="146304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10813" y="1920240"/>
            <a:ext cx="2716453" cy="50800"/>
          </a:xfrm>
          <a:prstGeom prst="rect">
            <a:avLst/>
          </a:prstGeom>
          <a:solidFill>
            <a:srgbClr val="104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93693" y="2148840"/>
            <a:ext cx="2350693" cy="274320"/>
          </a:xfrm>
          <a:prstGeom prst="rect">
            <a:avLst/>
          </a:prstGeom>
          <a:noFill/>
        </p:spPr>
        <p:txBody>
          <a:bodyPr wrap="square" anchor="t" lIns="0" rIns="0" tIns="0" bIns="0">
            <a:spAutoFit/>
          </a:bodyPr>
          <a:lstStyle/>
          <a:p>
            <a:pPr algn="l">
              <a:lnSpc>
                <a:spcPct val="115000"/>
              </a:lnSpc>
            </a:pPr>
            <a:r>
              <a:rPr sz="1000" b="1" i="0">
                <a:solidFill>
                  <a:srgbClr val="718096"/>
                </a:solidFill>
                <a:latin typeface="Maison Neue Demi"/>
              </a:rPr>
              <a:t>MODULE 2</a:t>
            </a:r>
          </a:p>
        </p:txBody>
      </p:sp>
      <p:sp>
        <p:nvSpPr>
          <p:cNvPr id="12" name="TextBox 11"/>
          <p:cNvSpPr txBox="1"/>
          <p:nvPr/>
        </p:nvSpPr>
        <p:spPr>
          <a:xfrm>
            <a:off x="3493693" y="2423160"/>
            <a:ext cx="2350693" cy="822960"/>
          </a:xfrm>
          <a:prstGeom prst="rect">
            <a:avLst/>
          </a:prstGeom>
          <a:noFill/>
        </p:spPr>
        <p:txBody>
          <a:bodyPr wrap="square" anchor="t" lIns="0" rIns="0" tIns="0" bIns="0">
            <a:spAutoFit/>
          </a:bodyPr>
          <a:lstStyle/>
          <a:p>
            <a:pPr algn="l">
              <a:lnSpc>
                <a:spcPct val="125000"/>
              </a:lnSpc>
            </a:pPr>
            <a:r>
              <a:rPr sz="1800" b="1" i="0">
                <a:solidFill>
                  <a:srgbClr val="104B84"/>
                </a:solidFill>
                <a:latin typeface="Maison Neue Demi"/>
              </a:rPr>
              <a:t>Peering and interconnection</a:t>
            </a:r>
          </a:p>
        </p:txBody>
      </p:sp>
      <p:sp>
        <p:nvSpPr>
          <p:cNvPr id="13" name="Rectangle 12"/>
          <p:cNvSpPr/>
          <p:nvPr/>
        </p:nvSpPr>
        <p:spPr>
          <a:xfrm>
            <a:off x="6164427" y="1920240"/>
            <a:ext cx="2716453" cy="146304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64427" y="1920240"/>
            <a:ext cx="2716453" cy="50800"/>
          </a:xfrm>
          <a:prstGeom prst="rect">
            <a:avLst/>
          </a:prstGeom>
          <a:solidFill>
            <a:srgbClr val="104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148840"/>
            <a:ext cx="2350693" cy="274320"/>
          </a:xfrm>
          <a:prstGeom prst="rect">
            <a:avLst/>
          </a:prstGeom>
          <a:noFill/>
        </p:spPr>
        <p:txBody>
          <a:bodyPr wrap="square" anchor="t" lIns="0" rIns="0" tIns="0" bIns="0">
            <a:spAutoFit/>
          </a:bodyPr>
          <a:lstStyle/>
          <a:p>
            <a:pPr algn="l">
              <a:lnSpc>
                <a:spcPct val="115000"/>
              </a:lnSpc>
            </a:pPr>
            <a:r>
              <a:rPr sz="1000" b="1" i="0">
                <a:solidFill>
                  <a:srgbClr val="718096"/>
                </a:solidFill>
                <a:latin typeface="Maison Neue Demi"/>
              </a:rPr>
              <a:t>MODULE 3</a:t>
            </a:r>
          </a:p>
        </p:txBody>
      </p:sp>
      <p:sp>
        <p:nvSpPr>
          <p:cNvPr id="16" name="TextBox 15"/>
          <p:cNvSpPr txBox="1"/>
          <p:nvPr/>
        </p:nvSpPr>
        <p:spPr>
          <a:xfrm>
            <a:off x="6347307" y="2423160"/>
            <a:ext cx="2350693" cy="822960"/>
          </a:xfrm>
          <a:prstGeom prst="rect">
            <a:avLst/>
          </a:prstGeom>
          <a:noFill/>
        </p:spPr>
        <p:txBody>
          <a:bodyPr wrap="square" anchor="t" lIns="0" rIns="0" tIns="0" bIns="0">
            <a:spAutoFit/>
          </a:bodyPr>
          <a:lstStyle/>
          <a:p>
            <a:pPr algn="l">
              <a:lnSpc>
                <a:spcPct val="125000"/>
              </a:lnSpc>
            </a:pPr>
            <a:r>
              <a:rPr sz="1800" b="1" i="0">
                <a:solidFill>
                  <a:srgbClr val="104B84"/>
                </a:solidFill>
                <a:latin typeface="Maison Neue Demi"/>
              </a:rPr>
              <a:t>Routing security (RPKI / MANRS)</a:t>
            </a:r>
          </a:p>
        </p:txBody>
      </p:sp>
      <p:sp>
        <p:nvSpPr>
          <p:cNvPr id="17" name="Rectangle 16"/>
          <p:cNvSpPr/>
          <p:nvPr/>
        </p:nvSpPr>
        <p:spPr>
          <a:xfrm>
            <a:off x="9018041" y="1920240"/>
            <a:ext cx="2716453" cy="146304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18041" y="1920240"/>
            <a:ext cx="2716453" cy="50800"/>
          </a:xfrm>
          <a:prstGeom prst="rect">
            <a:avLst/>
          </a:prstGeom>
          <a:solidFill>
            <a:srgbClr val="104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00921" y="2148840"/>
            <a:ext cx="2350693" cy="274320"/>
          </a:xfrm>
          <a:prstGeom prst="rect">
            <a:avLst/>
          </a:prstGeom>
          <a:noFill/>
        </p:spPr>
        <p:txBody>
          <a:bodyPr wrap="square" anchor="t" lIns="0" rIns="0" tIns="0" bIns="0">
            <a:spAutoFit/>
          </a:bodyPr>
          <a:lstStyle/>
          <a:p>
            <a:pPr algn="l">
              <a:lnSpc>
                <a:spcPct val="115000"/>
              </a:lnSpc>
            </a:pPr>
            <a:r>
              <a:rPr sz="1000" b="1" i="0">
                <a:solidFill>
                  <a:srgbClr val="718096"/>
                </a:solidFill>
                <a:latin typeface="Maison Neue Demi"/>
              </a:rPr>
              <a:t>MODULE 4</a:t>
            </a:r>
          </a:p>
        </p:txBody>
      </p:sp>
      <p:sp>
        <p:nvSpPr>
          <p:cNvPr id="20" name="TextBox 19"/>
          <p:cNvSpPr txBox="1"/>
          <p:nvPr/>
        </p:nvSpPr>
        <p:spPr>
          <a:xfrm>
            <a:off x="9200921" y="2423160"/>
            <a:ext cx="2350693" cy="822960"/>
          </a:xfrm>
          <a:prstGeom prst="rect">
            <a:avLst/>
          </a:prstGeom>
          <a:noFill/>
        </p:spPr>
        <p:txBody>
          <a:bodyPr wrap="square" anchor="t" lIns="0" rIns="0" tIns="0" bIns="0">
            <a:spAutoFit/>
          </a:bodyPr>
          <a:lstStyle/>
          <a:p>
            <a:pPr algn="l">
              <a:lnSpc>
                <a:spcPct val="125000"/>
              </a:lnSpc>
            </a:pPr>
            <a:r>
              <a:rPr sz="1800" b="1" i="0">
                <a:solidFill>
                  <a:srgbClr val="104B84"/>
                </a:solidFill>
                <a:latin typeface="Maison Neue Demi"/>
              </a:rPr>
              <a:t>IXP operations</a:t>
            </a:r>
          </a:p>
        </p:txBody>
      </p:sp>
      <p:sp>
        <p:nvSpPr>
          <p:cNvPr id="21" name="Rectangle 20"/>
          <p:cNvSpPr/>
          <p:nvPr/>
        </p:nvSpPr>
        <p:spPr>
          <a:xfrm>
            <a:off x="457200" y="3657600"/>
            <a:ext cx="11277295" cy="914400"/>
          </a:xfrm>
          <a:prstGeom prst="rect">
            <a:avLst/>
          </a:prstGeom>
          <a:solidFill>
            <a:srgbClr val="FDEB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657600"/>
            <a:ext cx="63500" cy="914400"/>
          </a:xfrm>
          <a:prstGeom prst="rect">
            <a:avLst/>
          </a:prstGeom>
          <a:solidFill>
            <a:srgbClr val="F04F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794760"/>
            <a:ext cx="10820095" cy="640080"/>
          </a:xfrm>
          <a:prstGeom prst="rect">
            <a:avLst/>
          </a:prstGeom>
          <a:noFill/>
        </p:spPr>
        <p:txBody>
          <a:bodyPr wrap="square" anchor="t" lIns="0" rIns="0" tIns="0" bIns="0">
            <a:spAutoFit/>
          </a:bodyPr>
          <a:lstStyle/>
          <a:p>
            <a:pPr algn="l">
              <a:lnSpc>
                <a:spcPct val="135000"/>
              </a:lnSpc>
            </a:pPr>
            <a:r>
              <a:rPr sz="1400" b="0" i="0">
                <a:solidFill>
                  <a:srgbClr val="333232"/>
                </a:solidFill>
                <a:latin typeface="Maison Neue Book"/>
              </a:rPr>
              <a:t>4 cohorts × 15 engineers = 60 certified. Train-the-trainer track certifies 4 to 6 Filipino facilitators, so delivery becomes independent of international instructors. All materials publish under Creative Commons.</a:t>
            </a:r>
          </a:p>
        </p:txBody>
      </p:sp>
      <p:sp>
        <p:nvSpPr>
          <p:cNvPr id="24" name="Rectangle 23"/>
          <p:cNvSpPr/>
          <p:nvPr/>
        </p:nvSpPr>
        <p:spPr>
          <a:xfrm>
            <a:off x="457200" y="4800600"/>
            <a:ext cx="11277295" cy="1097280"/>
          </a:xfrm>
          <a:prstGeom prst="rect">
            <a:avLst/>
          </a:prstGeom>
          <a:solidFill>
            <a:srgbClr val="F7FAFC"/>
          </a:solidFill>
          <a:ln w="19050">
            <a:solidFill>
              <a:srgbClr val="CBD5E0"/>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800600"/>
            <a:ext cx="11277295" cy="1097280"/>
          </a:xfrm>
          <a:prstGeom prst="rect">
            <a:avLst/>
          </a:prstGeom>
          <a:noFill/>
        </p:spPr>
        <p:txBody>
          <a:bodyPr wrap="square" anchor="ctr" lIns="0" rIns="0" tIns="0" bIns="0">
            <a:spAutoFit/>
          </a:bodyPr>
          <a:lstStyle/>
          <a:p>
            <a:pPr algn="ctr">
              <a:lnSpc>
                <a:spcPct val="115000"/>
              </a:lnSpc>
            </a:pPr>
            <a:r>
              <a:rPr sz="1200" b="0" i="1">
                <a:solidFill>
                  <a:srgbClr val="718096"/>
                </a:solidFill>
                <a:latin typeface="Maison Neue Book"/>
              </a:rPr>
              <a:t>[ PHOTO PLACEHOLDER: past IXperience workshop, participants in learning mode ]</a:t>
            </a:r>
          </a:p>
        </p:txBody>
      </p:sp>
      <p:sp>
        <p:nvSpPr>
          <p:cNvPr id="26" name="TextBox 25"/>
          <p:cNvSpPr txBox="1"/>
          <p:nvPr/>
        </p:nvSpPr>
        <p:spPr>
          <a:xfrm>
            <a:off x="457200" y="6400800"/>
            <a:ext cx="1371600" cy="274320"/>
          </a:xfrm>
          <a:prstGeom prst="rect">
            <a:avLst/>
          </a:prstGeom>
          <a:noFill/>
        </p:spPr>
        <p:txBody>
          <a:bodyPr wrap="square" anchor="t" lIns="0" rIns="0" tIns="0" bIns="0">
            <a:spAutoFit/>
          </a:bodyPr>
          <a:lstStyle/>
          <a:p>
            <a:pPr algn="l">
              <a:lnSpc>
                <a:spcPct val="115000"/>
              </a:lnSpc>
            </a:pPr>
            <a:r>
              <a:rPr sz="1000" b="1" i="0">
                <a:solidFill>
                  <a:srgbClr val="718096"/>
                </a:solidFill>
                <a:latin typeface="Maison Neue Demi"/>
              </a:rPr>
              <a:t>RISE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411480"/>
            <a:ext cx="11247120" cy="731520"/>
          </a:xfrm>
          <a:prstGeom prst="rect">
            <a:avLst/>
          </a:prstGeom>
          <a:noFill/>
        </p:spPr>
        <p:txBody>
          <a:bodyPr wrap="square" anchor="t" lIns="0" rIns="0" tIns="0" bIns="0">
            <a:spAutoFit/>
          </a:bodyPr>
          <a:lstStyle/>
          <a:p>
            <a:pPr algn="l">
              <a:lnSpc>
                <a:spcPct val="115000"/>
              </a:lnSpc>
            </a:pPr>
            <a:r>
              <a:rPr sz="3400" b="1" i="0">
                <a:solidFill>
                  <a:srgbClr val="104B84"/>
                </a:solidFill>
                <a:latin typeface="Maison Neue Demi"/>
              </a:rPr>
              <a:t>Not an experiment</a:t>
            </a:r>
          </a:p>
        </p:txBody>
      </p:sp>
      <p:sp>
        <p:nvSpPr>
          <p:cNvPr id="3" name="Rectangle 2"/>
          <p:cNvSpPr/>
          <p:nvPr/>
        </p:nvSpPr>
        <p:spPr>
          <a:xfrm>
            <a:off x="457200" y="1143000"/>
            <a:ext cx="11247120" cy="19050"/>
          </a:xfrm>
          <a:prstGeom prst="rect">
            <a:avLst/>
          </a:prstGeom>
          <a:solidFill>
            <a:srgbClr val="CBD5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34440"/>
            <a:ext cx="11247120" cy="457200"/>
          </a:xfrm>
          <a:prstGeom prst="rect">
            <a:avLst/>
          </a:prstGeom>
          <a:noFill/>
        </p:spPr>
        <p:txBody>
          <a:bodyPr wrap="square" anchor="t" lIns="0" rIns="0" tIns="0" bIns="0">
            <a:spAutoFit/>
          </a:bodyPr>
          <a:lstStyle/>
          <a:p>
            <a:pPr algn="l">
              <a:lnSpc>
                <a:spcPct val="115000"/>
              </a:lnSpc>
            </a:pPr>
            <a:r>
              <a:rPr sz="1600" b="0" i="1">
                <a:solidFill>
                  <a:srgbClr val="4A5568"/>
                </a:solidFill>
                <a:latin typeface="Maison Neue Book"/>
              </a:rPr>
              <a:t>Scaling something already working.</a:t>
            </a:r>
          </a:p>
        </p:txBody>
      </p:sp>
      <p:sp>
        <p:nvSpPr>
          <p:cNvPr id="5" name="Rectangle 4"/>
          <p:cNvSpPr/>
          <p:nvPr/>
        </p:nvSpPr>
        <p:spPr>
          <a:xfrm>
            <a:off x="457200" y="1920240"/>
            <a:ext cx="2716453" cy="128016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920240"/>
            <a:ext cx="2716453" cy="38100"/>
          </a:xfrm>
          <a:prstGeom prst="rect">
            <a:avLst/>
          </a:prstGeom>
          <a:solidFill>
            <a:srgbClr val="104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103120"/>
            <a:ext cx="2716453" cy="640080"/>
          </a:xfrm>
          <a:prstGeom prst="rect">
            <a:avLst/>
          </a:prstGeom>
          <a:noFill/>
        </p:spPr>
        <p:txBody>
          <a:bodyPr wrap="square" anchor="t" lIns="0" rIns="0" tIns="0" bIns="0">
            <a:spAutoFit/>
          </a:bodyPr>
          <a:lstStyle/>
          <a:p>
            <a:pPr algn="ctr">
              <a:lnSpc>
                <a:spcPct val="100000"/>
              </a:lnSpc>
            </a:pPr>
            <a:r>
              <a:rPr sz="4000" b="1" i="0">
                <a:solidFill>
                  <a:srgbClr val="104B84"/>
                </a:solidFill>
                <a:latin typeface="Maison Neue Demi"/>
              </a:rPr>
              <a:t>4</a:t>
            </a:r>
          </a:p>
        </p:txBody>
      </p:sp>
      <p:sp>
        <p:nvSpPr>
          <p:cNvPr id="8" name="TextBox 7"/>
          <p:cNvSpPr txBox="1"/>
          <p:nvPr/>
        </p:nvSpPr>
        <p:spPr>
          <a:xfrm>
            <a:off x="457200" y="2788920"/>
            <a:ext cx="2716453" cy="365760"/>
          </a:xfrm>
          <a:prstGeom prst="rect">
            <a:avLst/>
          </a:prstGeom>
          <a:noFill/>
        </p:spPr>
        <p:txBody>
          <a:bodyPr wrap="square" anchor="t" lIns="0" rIns="0" tIns="0" bIns="0">
            <a:spAutoFit/>
          </a:bodyPr>
          <a:lstStyle/>
          <a:p>
            <a:pPr algn="ctr">
              <a:lnSpc>
                <a:spcPct val="115000"/>
              </a:lnSpc>
            </a:pPr>
            <a:r>
              <a:rPr sz="1100" b="1" i="0">
                <a:solidFill>
                  <a:srgbClr val="4A5568"/>
                </a:solidFill>
                <a:latin typeface="Maison Neue Demi"/>
              </a:rPr>
              <a:t>PRIOR EVENTS</a:t>
            </a:r>
          </a:p>
        </p:txBody>
      </p:sp>
      <p:sp>
        <p:nvSpPr>
          <p:cNvPr id="9" name="Rectangle 8"/>
          <p:cNvSpPr/>
          <p:nvPr/>
        </p:nvSpPr>
        <p:spPr>
          <a:xfrm>
            <a:off x="3310813" y="1920240"/>
            <a:ext cx="2716453" cy="128016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10813" y="1920240"/>
            <a:ext cx="2716453" cy="38100"/>
          </a:xfrm>
          <a:prstGeom prst="rect">
            <a:avLst/>
          </a:prstGeom>
          <a:solidFill>
            <a:srgbClr val="104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10813" y="2103120"/>
            <a:ext cx="2716453" cy="640080"/>
          </a:xfrm>
          <a:prstGeom prst="rect">
            <a:avLst/>
          </a:prstGeom>
          <a:noFill/>
        </p:spPr>
        <p:txBody>
          <a:bodyPr wrap="square" anchor="t" lIns="0" rIns="0" tIns="0" bIns="0">
            <a:spAutoFit/>
          </a:bodyPr>
          <a:lstStyle/>
          <a:p>
            <a:pPr algn="ctr">
              <a:lnSpc>
                <a:spcPct val="100000"/>
              </a:lnSpc>
            </a:pPr>
            <a:r>
              <a:rPr sz="4000" b="1" i="0">
                <a:solidFill>
                  <a:srgbClr val="104B84"/>
                </a:solidFill>
                <a:latin typeface="Maison Neue Demi"/>
              </a:rPr>
              <a:t>155</a:t>
            </a:r>
          </a:p>
        </p:txBody>
      </p:sp>
      <p:sp>
        <p:nvSpPr>
          <p:cNvPr id="12" name="TextBox 11"/>
          <p:cNvSpPr txBox="1"/>
          <p:nvPr/>
        </p:nvSpPr>
        <p:spPr>
          <a:xfrm>
            <a:off x="3310813" y="2788920"/>
            <a:ext cx="2716453" cy="365760"/>
          </a:xfrm>
          <a:prstGeom prst="rect">
            <a:avLst/>
          </a:prstGeom>
          <a:noFill/>
        </p:spPr>
        <p:txBody>
          <a:bodyPr wrap="square" anchor="t" lIns="0" rIns="0" tIns="0" bIns="0">
            <a:spAutoFit/>
          </a:bodyPr>
          <a:lstStyle/>
          <a:p>
            <a:pPr algn="ctr">
              <a:lnSpc>
                <a:spcPct val="115000"/>
              </a:lnSpc>
            </a:pPr>
            <a:r>
              <a:rPr sz="1100" b="1" i="0">
                <a:solidFill>
                  <a:srgbClr val="4A5568"/>
                </a:solidFill>
                <a:latin typeface="Maison Neue Demi"/>
              </a:rPr>
              <a:t>COMPANIES</a:t>
            </a:r>
          </a:p>
        </p:txBody>
      </p:sp>
      <p:sp>
        <p:nvSpPr>
          <p:cNvPr id="13" name="Rectangle 12"/>
          <p:cNvSpPr/>
          <p:nvPr/>
        </p:nvSpPr>
        <p:spPr>
          <a:xfrm>
            <a:off x="6164427" y="1920240"/>
            <a:ext cx="2716453" cy="128016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64427" y="1920240"/>
            <a:ext cx="2716453" cy="38100"/>
          </a:xfrm>
          <a:prstGeom prst="rect">
            <a:avLst/>
          </a:prstGeom>
          <a:solidFill>
            <a:srgbClr val="104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64427" y="2103120"/>
            <a:ext cx="2716453" cy="640080"/>
          </a:xfrm>
          <a:prstGeom prst="rect">
            <a:avLst/>
          </a:prstGeom>
          <a:noFill/>
        </p:spPr>
        <p:txBody>
          <a:bodyPr wrap="square" anchor="t" lIns="0" rIns="0" tIns="0" bIns="0">
            <a:spAutoFit/>
          </a:bodyPr>
          <a:lstStyle/>
          <a:p>
            <a:pPr algn="ctr">
              <a:lnSpc>
                <a:spcPct val="100000"/>
              </a:lnSpc>
            </a:pPr>
            <a:r>
              <a:rPr sz="4000" b="1" i="0">
                <a:solidFill>
                  <a:srgbClr val="104B84"/>
                </a:solidFill>
                <a:latin typeface="Maison Neue Demi"/>
              </a:rPr>
              <a:t>251</a:t>
            </a:r>
          </a:p>
        </p:txBody>
      </p:sp>
      <p:sp>
        <p:nvSpPr>
          <p:cNvPr id="16" name="TextBox 15"/>
          <p:cNvSpPr txBox="1"/>
          <p:nvPr/>
        </p:nvSpPr>
        <p:spPr>
          <a:xfrm>
            <a:off x="6164427" y="2788920"/>
            <a:ext cx="2716453" cy="365760"/>
          </a:xfrm>
          <a:prstGeom prst="rect">
            <a:avLst/>
          </a:prstGeom>
          <a:noFill/>
        </p:spPr>
        <p:txBody>
          <a:bodyPr wrap="square" anchor="t" lIns="0" rIns="0" tIns="0" bIns="0">
            <a:spAutoFit/>
          </a:bodyPr>
          <a:lstStyle/>
          <a:p>
            <a:pPr algn="ctr">
              <a:lnSpc>
                <a:spcPct val="115000"/>
              </a:lnSpc>
            </a:pPr>
            <a:r>
              <a:rPr sz="1100" b="1" i="0">
                <a:solidFill>
                  <a:srgbClr val="4A5568"/>
                </a:solidFill>
                <a:latin typeface="Maison Neue Demi"/>
              </a:rPr>
              <a:t>ENGINEERS TRAINED</a:t>
            </a:r>
          </a:p>
        </p:txBody>
      </p:sp>
      <p:sp>
        <p:nvSpPr>
          <p:cNvPr id="17" name="Rectangle 16"/>
          <p:cNvSpPr/>
          <p:nvPr/>
        </p:nvSpPr>
        <p:spPr>
          <a:xfrm>
            <a:off x="9018041" y="1920240"/>
            <a:ext cx="2716453" cy="1280160"/>
          </a:xfrm>
          <a:prstGeom prst="rect">
            <a:avLst/>
          </a:prstGeom>
          <a:solidFill>
            <a:srgbClr val="F7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18041" y="1920240"/>
            <a:ext cx="2716453" cy="38100"/>
          </a:xfrm>
          <a:prstGeom prst="rect">
            <a:avLst/>
          </a:prstGeom>
          <a:solidFill>
            <a:srgbClr val="104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18041" y="2103120"/>
            <a:ext cx="2716453" cy="640080"/>
          </a:xfrm>
          <a:prstGeom prst="rect">
            <a:avLst/>
          </a:prstGeom>
          <a:noFill/>
        </p:spPr>
        <p:txBody>
          <a:bodyPr wrap="square" anchor="t" lIns="0" rIns="0" tIns="0" bIns="0">
            <a:spAutoFit/>
          </a:bodyPr>
          <a:lstStyle/>
          <a:p>
            <a:pPr algn="ctr">
              <a:lnSpc>
                <a:spcPct val="100000"/>
              </a:lnSpc>
            </a:pPr>
            <a:r>
              <a:rPr sz="4000" b="1" i="0">
                <a:solidFill>
                  <a:srgbClr val="104B84"/>
                </a:solidFill>
                <a:latin typeface="Maison Neue Demi"/>
              </a:rPr>
              <a:t>71%</a:t>
            </a:r>
          </a:p>
        </p:txBody>
      </p:sp>
      <p:sp>
        <p:nvSpPr>
          <p:cNvPr id="20" name="TextBox 19"/>
          <p:cNvSpPr txBox="1"/>
          <p:nvPr/>
        </p:nvSpPr>
        <p:spPr>
          <a:xfrm>
            <a:off x="9018041" y="2788920"/>
            <a:ext cx="2716453" cy="365760"/>
          </a:xfrm>
          <a:prstGeom prst="rect">
            <a:avLst/>
          </a:prstGeom>
          <a:noFill/>
        </p:spPr>
        <p:txBody>
          <a:bodyPr wrap="square" anchor="t" lIns="0" rIns="0" tIns="0" bIns="0">
            <a:spAutoFit/>
          </a:bodyPr>
          <a:lstStyle/>
          <a:p>
            <a:pPr algn="ctr">
              <a:lnSpc>
                <a:spcPct val="115000"/>
              </a:lnSpc>
            </a:pPr>
            <a:r>
              <a:rPr sz="1100" b="1" i="0">
                <a:solidFill>
                  <a:srgbClr val="4A5568"/>
                </a:solidFill>
                <a:latin typeface="Maison Neue Demi"/>
              </a:rPr>
              <a:t>PROVINCIAL</a:t>
            </a:r>
          </a:p>
        </p:txBody>
      </p:sp>
      <p:sp>
        <p:nvSpPr>
          <p:cNvPr id="21" name="Rectangle 20"/>
          <p:cNvSpPr/>
          <p:nvPr/>
        </p:nvSpPr>
        <p:spPr>
          <a:xfrm>
            <a:off x="457200" y="3474720"/>
            <a:ext cx="11277295" cy="502920"/>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3474720"/>
            <a:ext cx="38100" cy="502920"/>
          </a:xfrm>
          <a:prstGeom prst="rect">
            <a:avLst/>
          </a:prstGeom>
          <a:solidFill>
            <a:srgbClr val="104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566160"/>
            <a:ext cx="10820095" cy="320040"/>
          </a:xfrm>
          <a:prstGeom prst="rect">
            <a:avLst/>
          </a:prstGeom>
          <a:noFill/>
        </p:spPr>
        <p:txBody>
          <a:bodyPr wrap="square" anchor="ctr" lIns="0" rIns="0" tIns="0" bIns="0">
            <a:spAutoFit/>
          </a:bodyPr>
          <a:lstStyle/>
          <a:p>
            <a:r>
              <a:rPr sz="1300" b="1">
                <a:solidFill>
                  <a:srgbClr val="104B84"/>
                </a:solidFill>
                <a:latin typeface="Maison Neue Demi"/>
              </a:rPr>
              <a:t>Curriculum runs on APNIC Academy labs and courseware.</a:t>
            </a:r>
            <a:r>
              <a:rPr sz="1300">
                <a:solidFill>
                  <a:srgbClr val="333232"/>
                </a:solidFill>
                <a:latin typeface="Maison Neue Book"/>
              </a:rPr>
              <a:t> With APNIC and PhNOG as co-delivery partners.</a:t>
            </a:r>
          </a:p>
        </p:txBody>
      </p:sp>
      <p:sp>
        <p:nvSpPr>
          <p:cNvPr id="24" name="Rectangle 23"/>
          <p:cNvSpPr/>
          <p:nvPr/>
        </p:nvSpPr>
        <p:spPr>
          <a:xfrm>
            <a:off x="457200" y="4087368"/>
            <a:ext cx="11277295" cy="502920"/>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4087368"/>
            <a:ext cx="38100" cy="502920"/>
          </a:xfrm>
          <a:prstGeom prst="rect">
            <a:avLst/>
          </a:prstGeom>
          <a:solidFill>
            <a:srgbClr val="104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178808"/>
            <a:ext cx="10820095" cy="320040"/>
          </a:xfrm>
          <a:prstGeom prst="rect">
            <a:avLst/>
          </a:prstGeom>
          <a:noFill/>
        </p:spPr>
        <p:txBody>
          <a:bodyPr wrap="square" anchor="ctr" lIns="0" rIns="0" tIns="0" bIns="0">
            <a:spAutoFit/>
          </a:bodyPr>
          <a:lstStyle/>
          <a:p>
            <a:r>
              <a:rPr sz="1300" b="1">
                <a:solidFill>
                  <a:srgbClr val="104B84"/>
                </a:solidFill>
                <a:latin typeface="Maison Neue Demi"/>
              </a:rPr>
              <a:t>2023 ISIF grant delivered:</a:t>
            </a:r>
            <a:r>
              <a:rPr sz="1300">
                <a:solidFill>
                  <a:srgbClr val="333232"/>
                </a:solidFill>
                <a:latin typeface="Maison Neue Book"/>
              </a:rPr>
              <a:t> Project School Internet, 50+ schools connected in Cebu.</a:t>
            </a:r>
          </a:p>
        </p:txBody>
      </p:sp>
      <p:sp>
        <p:nvSpPr>
          <p:cNvPr id="27" name="Rectangle 26"/>
          <p:cNvSpPr/>
          <p:nvPr/>
        </p:nvSpPr>
        <p:spPr>
          <a:xfrm>
            <a:off x="457200" y="4700016"/>
            <a:ext cx="11277295" cy="502920"/>
          </a:xfrm>
          <a:prstGeom prst="rect">
            <a:avLst/>
          </a:prstGeom>
          <a:solidFill>
            <a:srgbClr val="ED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4700016"/>
            <a:ext cx="38100" cy="502920"/>
          </a:xfrm>
          <a:prstGeom prst="rect">
            <a:avLst/>
          </a:prstGeom>
          <a:solidFill>
            <a:srgbClr val="104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791456"/>
            <a:ext cx="10820095" cy="320040"/>
          </a:xfrm>
          <a:prstGeom prst="rect">
            <a:avLst/>
          </a:prstGeom>
          <a:noFill/>
        </p:spPr>
        <p:txBody>
          <a:bodyPr wrap="square" anchor="ctr" lIns="0" rIns="0" tIns="0" bIns="0">
            <a:spAutoFit/>
          </a:bodyPr>
          <a:lstStyle/>
          <a:p>
            <a:r>
              <a:rPr sz="1300" b="1">
                <a:solidFill>
                  <a:srgbClr val="104B84"/>
                </a:solidFill>
                <a:latin typeface="Maison Neue Demi"/>
              </a:rPr>
              <a:t>Standing MOA with FICTAP:</a:t>
            </a:r>
            <a:r>
              <a:rPr sz="1300">
                <a:solidFill>
                  <a:srgbClr val="333232"/>
                </a:solidFill>
                <a:latin typeface="Maison Neue Book"/>
              </a:rPr>
              <a:t> RISE serves as the community's designated capability partner.</a:t>
            </a:r>
          </a:p>
        </p:txBody>
      </p:sp>
      <p:sp>
        <p:nvSpPr>
          <p:cNvPr id="30" name="Rectangle 29"/>
          <p:cNvSpPr/>
          <p:nvPr/>
        </p:nvSpPr>
        <p:spPr>
          <a:xfrm>
            <a:off x="457200" y="5404104"/>
            <a:ext cx="11277295" cy="640080"/>
          </a:xfrm>
          <a:prstGeom prst="rect">
            <a:avLst/>
          </a:prstGeom>
          <a:solidFill>
            <a:srgbClr val="F7FAFC"/>
          </a:solidFill>
          <a:ln w="19050">
            <a:solidFill>
              <a:srgbClr val="CBD5E0"/>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5404104"/>
            <a:ext cx="11277295" cy="640080"/>
          </a:xfrm>
          <a:prstGeom prst="rect">
            <a:avLst/>
          </a:prstGeom>
          <a:noFill/>
        </p:spPr>
        <p:txBody>
          <a:bodyPr wrap="square" anchor="ctr" lIns="0" rIns="0" tIns="0" bIns="0">
            <a:spAutoFit/>
          </a:bodyPr>
          <a:lstStyle/>
          <a:p>
            <a:pPr algn="ctr">
              <a:lnSpc>
                <a:spcPct val="115000"/>
              </a:lnSpc>
            </a:pPr>
            <a:r>
              <a:rPr sz="1100" b="0" i="1">
                <a:solidFill>
                  <a:srgbClr val="718096"/>
                </a:solidFill>
                <a:latin typeface="Maison Neue Book"/>
              </a:rPr>
              <a:t>[ PHOTO PLACEHOLDER: past IXperience participant mosaic ]</a:t>
            </a:r>
          </a:p>
        </p:txBody>
      </p:sp>
      <p:sp>
        <p:nvSpPr>
          <p:cNvPr id="32" name="TextBox 31"/>
          <p:cNvSpPr txBox="1"/>
          <p:nvPr/>
        </p:nvSpPr>
        <p:spPr>
          <a:xfrm>
            <a:off x="457200" y="6400800"/>
            <a:ext cx="1371600" cy="274320"/>
          </a:xfrm>
          <a:prstGeom prst="rect">
            <a:avLst/>
          </a:prstGeom>
          <a:noFill/>
        </p:spPr>
        <p:txBody>
          <a:bodyPr wrap="square" anchor="t" lIns="0" rIns="0" tIns="0" bIns="0">
            <a:spAutoFit/>
          </a:bodyPr>
          <a:lstStyle/>
          <a:p>
            <a:pPr algn="l">
              <a:lnSpc>
                <a:spcPct val="115000"/>
              </a:lnSpc>
            </a:pPr>
            <a:r>
              <a:rPr sz="1000" b="1" i="0">
                <a:solidFill>
                  <a:srgbClr val="718096"/>
                </a:solidFill>
                <a:latin typeface="Maison Neue Demi"/>
              </a:rPr>
              <a:t>RISE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029"/>
        </a:solidFill>
        <a:effectLst/>
      </p:bgPr>
    </p:bg>
    <p:spTree>
      <p:nvGrpSpPr>
        <p:cNvPr id="1" name=""/>
        <p:cNvGrpSpPr/>
        <p:nvPr/>
      </p:nvGrpSpPr>
      <p:grpSpPr/>
      <p:sp>
        <p:nvSpPr>
          <p:cNvPr id="2" name="TextBox 1"/>
          <p:cNvSpPr txBox="1"/>
          <p:nvPr/>
        </p:nvSpPr>
        <p:spPr>
          <a:xfrm>
            <a:off x="685800" y="822960"/>
            <a:ext cx="10820095" cy="914400"/>
          </a:xfrm>
          <a:prstGeom prst="rect">
            <a:avLst/>
          </a:prstGeom>
          <a:noFill/>
        </p:spPr>
        <p:txBody>
          <a:bodyPr wrap="square" anchor="t" lIns="0" rIns="0" tIns="0" bIns="0">
            <a:spAutoFit/>
          </a:bodyPr>
          <a:lstStyle/>
          <a:p>
            <a:pPr algn="l">
              <a:lnSpc>
                <a:spcPct val="115000"/>
              </a:lnSpc>
            </a:pPr>
            <a:r>
              <a:rPr sz="4400" b="1" i="0">
                <a:solidFill>
                  <a:srgbClr val="FFFFFF"/>
                </a:solidFill>
                <a:latin typeface="Maison Neue Demi"/>
              </a:rPr>
              <a:t>The loop</a:t>
            </a:r>
          </a:p>
        </p:txBody>
      </p:sp>
      <p:sp>
        <p:nvSpPr>
          <p:cNvPr id="3" name="Rectangle 2"/>
          <p:cNvSpPr/>
          <p:nvPr/>
        </p:nvSpPr>
        <p:spPr>
          <a:xfrm>
            <a:off x="685800" y="1691640"/>
            <a:ext cx="2286000" cy="25400"/>
          </a:xfrm>
          <a:prstGeom prst="rect">
            <a:avLst/>
          </a:prstGeom>
          <a:solidFill>
            <a:srgbClr val="F04F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286000"/>
            <a:ext cx="548640" cy="594360"/>
          </a:xfrm>
          <a:prstGeom prst="rect">
            <a:avLst/>
          </a:prstGeom>
          <a:noFill/>
        </p:spPr>
        <p:txBody>
          <a:bodyPr wrap="square" anchor="ctr" lIns="0" rIns="0" tIns="0" bIns="0">
            <a:spAutoFit/>
          </a:bodyPr>
          <a:lstStyle/>
          <a:p>
            <a:pPr algn="l">
              <a:lnSpc>
                <a:spcPct val="115000"/>
              </a:lnSpc>
            </a:pPr>
            <a:r>
              <a:rPr sz="2400" b="1" i="0">
                <a:solidFill>
                  <a:srgbClr val="F04F6C"/>
                </a:solidFill>
                <a:latin typeface="Maison Neue Demi"/>
              </a:rPr>
              <a:t>→</a:t>
            </a:r>
          </a:p>
        </p:txBody>
      </p:sp>
      <p:sp>
        <p:nvSpPr>
          <p:cNvPr id="5" name="TextBox 4"/>
          <p:cNvSpPr txBox="1"/>
          <p:nvPr/>
        </p:nvSpPr>
        <p:spPr>
          <a:xfrm>
            <a:off x="1234440" y="2286000"/>
            <a:ext cx="10271455" cy="594360"/>
          </a:xfrm>
          <a:prstGeom prst="rect">
            <a:avLst/>
          </a:prstGeom>
          <a:noFill/>
        </p:spPr>
        <p:txBody>
          <a:bodyPr wrap="square" anchor="ctr" lIns="0" rIns="0" tIns="0" bIns="0">
            <a:spAutoFit/>
          </a:bodyPr>
          <a:lstStyle/>
          <a:p>
            <a:pPr algn="l">
              <a:lnSpc>
                <a:spcPct val="120000"/>
              </a:lnSpc>
            </a:pPr>
            <a:r>
              <a:rPr sz="2200" b="0" i="0">
                <a:solidFill>
                  <a:srgbClr val="FFFFFF"/>
                </a:solidFill>
                <a:latin typeface="Maison Neue Book"/>
              </a:rPr>
              <a:t>Filipino engineers trained by Filipino engineers</a:t>
            </a:r>
          </a:p>
        </p:txBody>
      </p:sp>
      <p:sp>
        <p:nvSpPr>
          <p:cNvPr id="6" name="TextBox 5"/>
          <p:cNvSpPr txBox="1"/>
          <p:nvPr/>
        </p:nvSpPr>
        <p:spPr>
          <a:xfrm>
            <a:off x="685800" y="2880360"/>
            <a:ext cx="548640" cy="594360"/>
          </a:xfrm>
          <a:prstGeom prst="rect">
            <a:avLst/>
          </a:prstGeom>
          <a:noFill/>
        </p:spPr>
        <p:txBody>
          <a:bodyPr wrap="square" anchor="ctr" lIns="0" rIns="0" tIns="0" bIns="0">
            <a:spAutoFit/>
          </a:bodyPr>
          <a:lstStyle/>
          <a:p>
            <a:pPr algn="l">
              <a:lnSpc>
                <a:spcPct val="115000"/>
              </a:lnSpc>
            </a:pPr>
            <a:r>
              <a:rPr sz="2400" b="1" i="0">
                <a:solidFill>
                  <a:srgbClr val="F04F6C"/>
                </a:solidFill>
                <a:latin typeface="Maison Neue Demi"/>
              </a:rPr>
              <a:t>→</a:t>
            </a:r>
          </a:p>
        </p:txBody>
      </p:sp>
      <p:sp>
        <p:nvSpPr>
          <p:cNvPr id="7" name="TextBox 6"/>
          <p:cNvSpPr txBox="1"/>
          <p:nvPr/>
        </p:nvSpPr>
        <p:spPr>
          <a:xfrm>
            <a:off x="1234440" y="2880360"/>
            <a:ext cx="10271455" cy="594360"/>
          </a:xfrm>
          <a:prstGeom prst="rect">
            <a:avLst/>
          </a:prstGeom>
          <a:noFill/>
        </p:spPr>
        <p:txBody>
          <a:bodyPr wrap="square" anchor="ctr" lIns="0" rIns="0" tIns="0" bIns="0">
            <a:spAutoFit/>
          </a:bodyPr>
          <a:lstStyle/>
          <a:p>
            <a:pPr algn="l">
              <a:lnSpc>
                <a:spcPct val="120000"/>
              </a:lnSpc>
            </a:pPr>
            <a:r>
              <a:rPr sz="2200" b="0" i="0">
                <a:solidFill>
                  <a:srgbClr val="FFFFFF"/>
                </a:solidFill>
                <a:latin typeface="Maison Neue Book"/>
              </a:rPr>
              <a:t>Lower bandwidth costs</a:t>
            </a:r>
          </a:p>
        </p:txBody>
      </p:sp>
      <p:sp>
        <p:nvSpPr>
          <p:cNvPr id="8" name="TextBox 7"/>
          <p:cNvSpPr txBox="1"/>
          <p:nvPr/>
        </p:nvSpPr>
        <p:spPr>
          <a:xfrm>
            <a:off x="685800" y="3474720"/>
            <a:ext cx="548640" cy="594360"/>
          </a:xfrm>
          <a:prstGeom prst="rect">
            <a:avLst/>
          </a:prstGeom>
          <a:noFill/>
        </p:spPr>
        <p:txBody>
          <a:bodyPr wrap="square" anchor="ctr" lIns="0" rIns="0" tIns="0" bIns="0">
            <a:spAutoFit/>
          </a:bodyPr>
          <a:lstStyle/>
          <a:p>
            <a:pPr algn="l">
              <a:lnSpc>
                <a:spcPct val="115000"/>
              </a:lnSpc>
            </a:pPr>
            <a:r>
              <a:rPr sz="2400" b="1" i="0">
                <a:solidFill>
                  <a:srgbClr val="F04F6C"/>
                </a:solidFill>
                <a:latin typeface="Maison Neue Demi"/>
              </a:rPr>
              <a:t>→</a:t>
            </a:r>
          </a:p>
        </p:txBody>
      </p:sp>
      <p:sp>
        <p:nvSpPr>
          <p:cNvPr id="9" name="TextBox 8"/>
          <p:cNvSpPr txBox="1"/>
          <p:nvPr/>
        </p:nvSpPr>
        <p:spPr>
          <a:xfrm>
            <a:off x="1234440" y="3474720"/>
            <a:ext cx="10271455" cy="594360"/>
          </a:xfrm>
          <a:prstGeom prst="rect">
            <a:avLst/>
          </a:prstGeom>
          <a:noFill/>
        </p:spPr>
        <p:txBody>
          <a:bodyPr wrap="square" anchor="ctr" lIns="0" rIns="0" tIns="0" bIns="0">
            <a:spAutoFit/>
          </a:bodyPr>
          <a:lstStyle/>
          <a:p>
            <a:pPr algn="l">
              <a:lnSpc>
                <a:spcPct val="120000"/>
              </a:lnSpc>
            </a:pPr>
            <a:r>
              <a:rPr sz="2200" b="0" i="0">
                <a:solidFill>
                  <a:srgbClr val="FFFFFF"/>
                </a:solidFill>
                <a:latin typeface="Maison Neue Book"/>
              </a:rPr>
              <a:t>Restored reinvestment capacity</a:t>
            </a:r>
          </a:p>
        </p:txBody>
      </p:sp>
      <p:sp>
        <p:nvSpPr>
          <p:cNvPr id="10" name="TextBox 9"/>
          <p:cNvSpPr txBox="1"/>
          <p:nvPr/>
        </p:nvSpPr>
        <p:spPr>
          <a:xfrm>
            <a:off x="685800" y="4069080"/>
            <a:ext cx="548640" cy="594360"/>
          </a:xfrm>
          <a:prstGeom prst="rect">
            <a:avLst/>
          </a:prstGeom>
          <a:noFill/>
        </p:spPr>
        <p:txBody>
          <a:bodyPr wrap="square" anchor="ctr" lIns="0" rIns="0" tIns="0" bIns="0">
            <a:spAutoFit/>
          </a:bodyPr>
          <a:lstStyle/>
          <a:p>
            <a:pPr algn="l">
              <a:lnSpc>
                <a:spcPct val="115000"/>
              </a:lnSpc>
            </a:pPr>
            <a:r>
              <a:rPr sz="2400" b="1" i="0">
                <a:solidFill>
                  <a:srgbClr val="F04F6C"/>
                </a:solidFill>
                <a:latin typeface="Maison Neue Demi"/>
              </a:rPr>
              <a:t>→</a:t>
            </a:r>
          </a:p>
        </p:txBody>
      </p:sp>
      <p:sp>
        <p:nvSpPr>
          <p:cNvPr id="11" name="TextBox 10"/>
          <p:cNvSpPr txBox="1"/>
          <p:nvPr/>
        </p:nvSpPr>
        <p:spPr>
          <a:xfrm>
            <a:off x="1234440" y="4069080"/>
            <a:ext cx="10271455" cy="594360"/>
          </a:xfrm>
          <a:prstGeom prst="rect">
            <a:avLst/>
          </a:prstGeom>
          <a:noFill/>
        </p:spPr>
        <p:txBody>
          <a:bodyPr wrap="square" anchor="ctr" lIns="0" rIns="0" tIns="0" bIns="0">
            <a:spAutoFit/>
          </a:bodyPr>
          <a:lstStyle/>
          <a:p>
            <a:pPr algn="l">
              <a:lnSpc>
                <a:spcPct val="120000"/>
              </a:lnSpc>
            </a:pPr>
            <a:r>
              <a:rPr sz="2200" b="0" i="0">
                <a:solidFill>
                  <a:srgbClr val="FFFFFF"/>
                </a:solidFill>
                <a:latin typeface="Maison Neue Book"/>
              </a:rPr>
              <a:t>Measurable movement on the indicators the World Bank tracks</a:t>
            </a:r>
          </a:p>
        </p:txBody>
      </p:sp>
      <p:sp>
        <p:nvSpPr>
          <p:cNvPr id="12" name="Rectangle 11"/>
          <p:cNvSpPr/>
          <p:nvPr/>
        </p:nvSpPr>
        <p:spPr>
          <a:xfrm>
            <a:off x="685800" y="6035040"/>
            <a:ext cx="10820095" cy="12700"/>
          </a:xfrm>
          <a:prstGeom prst="rect">
            <a:avLst/>
          </a:prstGeom>
          <a:solidFill>
            <a:srgbClr val="2D37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6217920"/>
            <a:ext cx="10820095" cy="365760"/>
          </a:xfrm>
          <a:prstGeom prst="rect">
            <a:avLst/>
          </a:prstGeom>
          <a:noFill/>
        </p:spPr>
        <p:txBody>
          <a:bodyPr wrap="square" anchor="t" lIns="0" rIns="0" tIns="0" bIns="0">
            <a:spAutoFit/>
          </a:bodyPr>
          <a:lstStyle/>
          <a:p>
            <a:pPr algn="l">
              <a:lnSpc>
                <a:spcPct val="115000"/>
              </a:lnSpc>
            </a:pPr>
            <a:r>
              <a:rPr sz="1300" b="1" i="0">
                <a:solidFill>
                  <a:srgbClr val="718096"/>
                </a:solidFill>
                <a:latin typeface="Maison Neue Demi"/>
              </a:rPr>
              <a:t>RISE      APNIC ACADEMY      PhNOG      FICTAP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